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70" r:id="rId5"/>
    <p:sldId id="261" r:id="rId6"/>
    <p:sldId id="260" r:id="rId7"/>
    <p:sldId id="262" r:id="rId8"/>
    <p:sldId id="263" r:id="rId9"/>
    <p:sldId id="264" r:id="rId10"/>
    <p:sldId id="265" r:id="rId11"/>
    <p:sldId id="268" r:id="rId12"/>
    <p:sldId id="269" r:id="rId13"/>
    <p:sldId id="266" r:id="rId14"/>
    <p:sldId id="267" r:id="rId15"/>
    <p:sldId id="259" r:id="rId16"/>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6" d="100"/>
          <a:sy n="66" d="100"/>
        </p:scale>
        <p:origin x="1930" y="31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6200" y="838199"/>
            <a:ext cx="8991600" cy="1905"/>
          </a:xfrm>
          <a:custGeom>
            <a:avLst/>
            <a:gdLst/>
            <a:ahLst/>
            <a:cxnLst/>
            <a:rect l="l" t="t" r="r" b="b"/>
            <a:pathLst>
              <a:path w="8991600" h="1905">
                <a:moveTo>
                  <a:pt x="0" y="0"/>
                </a:moveTo>
                <a:lnTo>
                  <a:pt x="8991599" y="1587"/>
                </a:lnTo>
              </a:path>
            </a:pathLst>
          </a:custGeom>
          <a:ln w="9524">
            <a:solidFill>
              <a:srgbClr val="4A7DBA"/>
            </a:solidFill>
          </a:ln>
        </p:spPr>
        <p:txBody>
          <a:bodyPr wrap="square" lIns="0" tIns="0" rIns="0" bIns="0" rtlCol="0"/>
          <a:lstStyle/>
          <a:p>
            <a:endParaRPr/>
          </a:p>
        </p:txBody>
      </p:sp>
      <p:pic>
        <p:nvPicPr>
          <p:cNvPr id="17" name="bg object 17"/>
          <p:cNvPicPr/>
          <p:nvPr/>
        </p:nvPicPr>
        <p:blipFill>
          <a:blip r:embed="rId2" cstate="print"/>
          <a:stretch>
            <a:fillRect/>
          </a:stretch>
        </p:blipFill>
        <p:spPr>
          <a:xfrm>
            <a:off x="350875" y="19000"/>
            <a:ext cx="8665550" cy="839799"/>
          </a:xfrm>
          <a:prstGeom prst="rect">
            <a:avLst/>
          </a:prstGeom>
        </p:spPr>
      </p:pic>
      <p:sp>
        <p:nvSpPr>
          <p:cNvPr id="2" name="Holder 2"/>
          <p:cNvSpPr>
            <a:spLocks noGrp="1"/>
          </p:cNvSpPr>
          <p:nvPr>
            <p:ph type="ctrTitle"/>
          </p:nvPr>
        </p:nvSpPr>
        <p:spPr>
          <a:xfrm>
            <a:off x="2183649" y="2122297"/>
            <a:ext cx="4776470" cy="1031239"/>
          </a:xfrm>
          <a:prstGeom prst="rect">
            <a:avLst/>
          </a:prstGeom>
        </p:spPr>
        <p:txBody>
          <a:bodyPr wrap="square" lIns="0" tIns="0" rIns="0" bIns="0">
            <a:spAutoFit/>
          </a:bodyPr>
          <a:lstStyle>
            <a:lvl1pPr>
              <a:defRPr sz="4200" b="1" i="0">
                <a:solidFill>
                  <a:schemeClr val="tx2"/>
                </a:solidFill>
                <a:latin typeface="Times New Roman"/>
                <a:cs typeface="Times New Roman"/>
              </a:defRPr>
            </a:lvl1pPr>
          </a:lstStyle>
          <a:p>
            <a:endParaRPr/>
          </a:p>
        </p:txBody>
      </p:sp>
      <p:sp>
        <p:nvSpPr>
          <p:cNvPr id="3" name="Holder 3"/>
          <p:cNvSpPr>
            <a:spLocks noGrp="1"/>
          </p:cNvSpPr>
          <p:nvPr>
            <p:ph type="subTitle" idx="4"/>
          </p:nvPr>
        </p:nvSpPr>
        <p:spPr>
          <a:xfrm>
            <a:off x="2063229" y="3884167"/>
            <a:ext cx="5015865" cy="848360"/>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project</a:t>
            </a:r>
            <a:r>
              <a:rPr spc="-35" dirty="0"/>
              <a:t> </a:t>
            </a:r>
            <a:r>
              <a:rPr spc="-10" dirty="0"/>
              <a:t>title</a:t>
            </a:r>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10/14/2024</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200" b="1" i="0">
                <a:solidFill>
                  <a:schemeClr val="tx2"/>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project</a:t>
            </a:r>
            <a:r>
              <a:rPr spc="-35" dirty="0"/>
              <a:t> </a:t>
            </a:r>
            <a:r>
              <a:rPr spc="-10" dirty="0"/>
              <a:t>title</a:t>
            </a:r>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10/14/2024</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200" b="1" i="0">
                <a:solidFill>
                  <a:schemeClr val="tx2"/>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project</a:t>
            </a:r>
            <a:r>
              <a:rPr spc="-35" dirty="0"/>
              <a:t> </a:t>
            </a:r>
            <a:r>
              <a:rPr spc="-10" dirty="0"/>
              <a:t>title</a:t>
            </a:r>
          </a:p>
        </p:txBody>
      </p:sp>
      <p:sp>
        <p:nvSpPr>
          <p:cNvPr id="6" name="Holder 6"/>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10/14/2024</a:t>
            </a:r>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200" b="1" i="0">
                <a:solidFill>
                  <a:schemeClr val="tx2"/>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project</a:t>
            </a:r>
            <a:r>
              <a:rPr spc="-35" dirty="0"/>
              <a:t> </a:t>
            </a:r>
            <a:r>
              <a:rPr spc="-10" dirty="0"/>
              <a:t>title</a:t>
            </a:r>
          </a:p>
        </p:txBody>
      </p:sp>
      <p:sp>
        <p:nvSpPr>
          <p:cNvPr id="4" name="Holder 4"/>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10/14/2024</a:t>
            </a:r>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0037" y="5156837"/>
            <a:ext cx="8623925" cy="1461125"/>
          </a:xfrm>
          <a:prstGeom prst="rect">
            <a:avLst/>
          </a:prstGeom>
        </p:spPr>
      </p:pic>
      <p:pic>
        <p:nvPicPr>
          <p:cNvPr id="17" name="bg object 17"/>
          <p:cNvPicPr/>
          <p:nvPr/>
        </p:nvPicPr>
        <p:blipFill>
          <a:blip r:embed="rId3" cstate="print"/>
          <a:stretch>
            <a:fillRect/>
          </a:stretch>
        </p:blipFill>
        <p:spPr>
          <a:xfrm>
            <a:off x="304800" y="5181599"/>
            <a:ext cx="8534399" cy="1371599"/>
          </a:xfrm>
          <a:prstGeom prst="rect">
            <a:avLst/>
          </a:prstGeom>
        </p:spPr>
      </p:pic>
      <p:sp>
        <p:nvSpPr>
          <p:cNvPr id="18" name="bg object 18"/>
          <p:cNvSpPr/>
          <p:nvPr/>
        </p:nvSpPr>
        <p:spPr>
          <a:xfrm>
            <a:off x="304800" y="5181599"/>
            <a:ext cx="8534400" cy="1371600"/>
          </a:xfrm>
          <a:custGeom>
            <a:avLst/>
            <a:gdLst/>
            <a:ahLst/>
            <a:cxnLst/>
            <a:rect l="l" t="t" r="r" b="b"/>
            <a:pathLst>
              <a:path w="8534400" h="1371600">
                <a:moveTo>
                  <a:pt x="0" y="228604"/>
                </a:moveTo>
                <a:lnTo>
                  <a:pt x="4644" y="182532"/>
                </a:lnTo>
                <a:lnTo>
                  <a:pt x="17964" y="139621"/>
                </a:lnTo>
                <a:lnTo>
                  <a:pt x="39042" y="100789"/>
                </a:lnTo>
                <a:lnTo>
                  <a:pt x="66956" y="66956"/>
                </a:lnTo>
                <a:lnTo>
                  <a:pt x="100789" y="39042"/>
                </a:lnTo>
                <a:lnTo>
                  <a:pt x="139621" y="17964"/>
                </a:lnTo>
                <a:lnTo>
                  <a:pt x="182532" y="4644"/>
                </a:lnTo>
                <a:lnTo>
                  <a:pt x="228604" y="0"/>
                </a:lnTo>
                <a:lnTo>
                  <a:pt x="8305794" y="0"/>
                </a:lnTo>
                <a:lnTo>
                  <a:pt x="8350602" y="4433"/>
                </a:lnTo>
                <a:lnTo>
                  <a:pt x="8393278" y="17401"/>
                </a:lnTo>
                <a:lnTo>
                  <a:pt x="8432625" y="38408"/>
                </a:lnTo>
                <a:lnTo>
                  <a:pt x="8467442" y="66956"/>
                </a:lnTo>
                <a:lnTo>
                  <a:pt x="8495991" y="101774"/>
                </a:lnTo>
                <a:lnTo>
                  <a:pt x="8516998" y="141121"/>
                </a:lnTo>
                <a:lnTo>
                  <a:pt x="8529966" y="183797"/>
                </a:lnTo>
                <a:lnTo>
                  <a:pt x="8534399" y="228604"/>
                </a:lnTo>
                <a:lnTo>
                  <a:pt x="8534399" y="1142995"/>
                </a:lnTo>
                <a:lnTo>
                  <a:pt x="8529755" y="1189067"/>
                </a:lnTo>
                <a:lnTo>
                  <a:pt x="8516435" y="1231978"/>
                </a:lnTo>
                <a:lnTo>
                  <a:pt x="8495357" y="1270810"/>
                </a:lnTo>
                <a:lnTo>
                  <a:pt x="8467443" y="1304643"/>
                </a:lnTo>
                <a:lnTo>
                  <a:pt x="8433610" y="1332557"/>
                </a:lnTo>
                <a:lnTo>
                  <a:pt x="8394778" y="1353635"/>
                </a:lnTo>
                <a:lnTo>
                  <a:pt x="8351866" y="1366955"/>
                </a:lnTo>
                <a:lnTo>
                  <a:pt x="8305794" y="1371599"/>
                </a:lnTo>
                <a:lnTo>
                  <a:pt x="228604" y="1371599"/>
                </a:lnTo>
                <a:lnTo>
                  <a:pt x="182532" y="1366955"/>
                </a:lnTo>
                <a:lnTo>
                  <a:pt x="139621" y="1353635"/>
                </a:lnTo>
                <a:lnTo>
                  <a:pt x="100789" y="1332557"/>
                </a:lnTo>
                <a:lnTo>
                  <a:pt x="66956" y="1304643"/>
                </a:lnTo>
                <a:lnTo>
                  <a:pt x="39042" y="1270810"/>
                </a:lnTo>
                <a:lnTo>
                  <a:pt x="17964" y="1231978"/>
                </a:lnTo>
                <a:lnTo>
                  <a:pt x="4644" y="1189067"/>
                </a:lnTo>
                <a:lnTo>
                  <a:pt x="0" y="1142995"/>
                </a:lnTo>
                <a:lnTo>
                  <a:pt x="0" y="228604"/>
                </a:lnTo>
                <a:close/>
              </a:path>
            </a:pathLst>
          </a:custGeom>
          <a:ln w="9524">
            <a:solidFill>
              <a:srgbClr val="7B5F9F"/>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project</a:t>
            </a:r>
            <a:r>
              <a:rPr spc="-35" dirty="0"/>
              <a:t> </a:t>
            </a:r>
            <a:r>
              <a:rPr spc="-10" dirty="0"/>
              <a:t>title</a:t>
            </a:r>
          </a:p>
        </p:txBody>
      </p:sp>
      <p:sp>
        <p:nvSpPr>
          <p:cNvPr id="3" name="Holder 3"/>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10/14/2024</a:t>
            </a:r>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6200" y="838199"/>
            <a:ext cx="8991600" cy="1905"/>
          </a:xfrm>
          <a:custGeom>
            <a:avLst/>
            <a:gdLst/>
            <a:ahLst/>
            <a:cxnLst/>
            <a:rect l="l" t="t" r="r" b="b"/>
            <a:pathLst>
              <a:path w="8991600" h="1905">
                <a:moveTo>
                  <a:pt x="0" y="0"/>
                </a:moveTo>
                <a:lnTo>
                  <a:pt x="8991599" y="1587"/>
                </a:lnTo>
              </a:path>
            </a:pathLst>
          </a:custGeom>
          <a:ln w="9524">
            <a:solidFill>
              <a:srgbClr val="4A7DBA"/>
            </a:solidFill>
          </a:ln>
        </p:spPr>
        <p:txBody>
          <a:bodyPr wrap="square" lIns="0" tIns="0" rIns="0" bIns="0" rtlCol="0"/>
          <a:lstStyle/>
          <a:p>
            <a:endParaRPr/>
          </a:p>
        </p:txBody>
      </p:sp>
      <p:sp>
        <p:nvSpPr>
          <p:cNvPr id="2" name="Holder 2"/>
          <p:cNvSpPr>
            <a:spLocks noGrp="1"/>
          </p:cNvSpPr>
          <p:nvPr>
            <p:ph type="title"/>
          </p:nvPr>
        </p:nvSpPr>
        <p:spPr>
          <a:xfrm>
            <a:off x="2410365" y="1374170"/>
            <a:ext cx="4323268" cy="670560"/>
          </a:xfrm>
          <a:prstGeom prst="rect">
            <a:avLst/>
          </a:prstGeom>
        </p:spPr>
        <p:txBody>
          <a:bodyPr wrap="square" lIns="0" tIns="0" rIns="0" bIns="0">
            <a:spAutoFit/>
          </a:bodyPr>
          <a:lstStyle>
            <a:lvl1pPr>
              <a:defRPr sz="4200" b="1" i="0">
                <a:solidFill>
                  <a:schemeClr val="tx2"/>
                </a:solidFill>
                <a:latin typeface="Times New Roman"/>
                <a:cs typeface="Times New Roman"/>
              </a:defRPr>
            </a:lvl1pPr>
          </a:lstStyle>
          <a:p>
            <a:endParaRPr/>
          </a:p>
        </p:txBody>
      </p:sp>
      <p:sp>
        <p:nvSpPr>
          <p:cNvPr id="3" name="Holder 3"/>
          <p:cNvSpPr>
            <a:spLocks noGrp="1"/>
          </p:cNvSpPr>
          <p:nvPr>
            <p:ph type="body" idx="1"/>
          </p:nvPr>
        </p:nvSpPr>
        <p:spPr>
          <a:xfrm>
            <a:off x="523734" y="2278610"/>
            <a:ext cx="8263890" cy="2454910"/>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97461" y="6466776"/>
            <a:ext cx="748029"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dirty="0"/>
              <a:t>project</a:t>
            </a:r>
            <a:r>
              <a:rPr spc="-35" dirty="0"/>
              <a:t> </a:t>
            </a:r>
            <a:r>
              <a:rPr spc="-10" dirty="0"/>
              <a:t>title</a:t>
            </a:r>
          </a:p>
        </p:txBody>
      </p:sp>
      <p:sp>
        <p:nvSpPr>
          <p:cNvPr id="5" name="Holder 5"/>
          <p:cNvSpPr>
            <a:spLocks noGrp="1"/>
          </p:cNvSpPr>
          <p:nvPr>
            <p:ph type="dt" sz="half" idx="6"/>
          </p:nvPr>
        </p:nvSpPr>
        <p:spPr>
          <a:xfrm>
            <a:off x="530225" y="6466776"/>
            <a:ext cx="760094"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spc="-10" dirty="0"/>
              <a:t>10/14/2024</a:t>
            </a:r>
          </a:p>
        </p:txBody>
      </p:sp>
      <p:sp>
        <p:nvSpPr>
          <p:cNvPr id="6" name="Holder 6"/>
          <p:cNvSpPr>
            <a:spLocks noGrp="1"/>
          </p:cNvSpPr>
          <p:nvPr>
            <p:ph type="sldNum" sz="quarter" idx="7"/>
          </p:nvPr>
        </p:nvSpPr>
        <p:spPr>
          <a:xfrm>
            <a:off x="8485733" y="6466776"/>
            <a:ext cx="166370"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38100">
              <a:lnSpc>
                <a:spcPts val="124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5.xml"/><Relationship Id="rId5" Type="http://schemas.openxmlformats.org/officeDocument/2006/relationships/image" Target="../media/image7.jpg"/><Relationship Id="rId4" Type="http://schemas.openxmlformats.org/officeDocument/2006/relationships/image" Target="../media/image6.jpg"/></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Literature%20Survey.pdf"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1.pptx"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BE%20PROJECT%20REPORT%20FORMAT%2024-25%20-%20Google%20Docs.pdf"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39555" y="4302863"/>
            <a:ext cx="7863840" cy="1557655"/>
          </a:xfrm>
          <a:prstGeom prst="rect">
            <a:avLst/>
          </a:prstGeom>
        </p:spPr>
        <p:txBody>
          <a:bodyPr vert="horz" wrap="square" lIns="0" tIns="12700" rIns="0" bIns="0" rtlCol="0">
            <a:spAutoFit/>
          </a:bodyPr>
          <a:lstStyle/>
          <a:p>
            <a:pPr marL="3545204">
              <a:lnSpc>
                <a:spcPts val="2155"/>
              </a:lnSpc>
              <a:spcBef>
                <a:spcPts val="100"/>
              </a:spcBef>
            </a:pPr>
            <a:r>
              <a:rPr sz="1800" dirty="0">
                <a:latin typeface="Times New Roman"/>
                <a:cs typeface="Times New Roman"/>
              </a:rPr>
              <a:t>Guided</a:t>
            </a:r>
            <a:r>
              <a:rPr sz="1800" spc="-30" dirty="0">
                <a:latin typeface="Times New Roman"/>
                <a:cs typeface="Times New Roman"/>
              </a:rPr>
              <a:t> </a:t>
            </a:r>
            <a:r>
              <a:rPr sz="1800" dirty="0">
                <a:latin typeface="Times New Roman"/>
                <a:cs typeface="Times New Roman"/>
              </a:rPr>
              <a:t>by</a:t>
            </a:r>
            <a:r>
              <a:rPr sz="1800" spc="-25" dirty="0">
                <a:latin typeface="Times New Roman"/>
                <a:cs typeface="Times New Roman"/>
              </a:rPr>
              <a:t> </a:t>
            </a:r>
            <a:r>
              <a:rPr sz="1800" spc="-50" dirty="0">
                <a:latin typeface="Times New Roman"/>
                <a:cs typeface="Times New Roman"/>
              </a:rPr>
              <a:t>:</a:t>
            </a:r>
            <a:endParaRPr lang="en-IN" sz="1800" dirty="0">
              <a:latin typeface="Times New Roman"/>
              <a:cs typeface="Times New Roman"/>
            </a:endParaRPr>
          </a:p>
          <a:p>
            <a:pPr marL="3140075">
              <a:lnSpc>
                <a:spcPts val="2395"/>
              </a:lnSpc>
            </a:pPr>
            <a:r>
              <a:rPr lang="en-IN" sz="2000" b="1" dirty="0">
                <a:latin typeface="Times New Roman"/>
                <a:cs typeface="Times New Roman"/>
              </a:rPr>
              <a:t>Prof Keerti </a:t>
            </a:r>
            <a:r>
              <a:rPr lang="en-IN" sz="2000" b="1" dirty="0" err="1">
                <a:latin typeface="Times New Roman"/>
                <a:cs typeface="Times New Roman"/>
              </a:rPr>
              <a:t>Kharatmol</a:t>
            </a:r>
            <a:endParaRPr lang="en-IN" sz="2000" dirty="0">
              <a:latin typeface="Times New Roman"/>
              <a:cs typeface="Times New Roman"/>
            </a:endParaRPr>
          </a:p>
          <a:p>
            <a:pPr marL="3037840">
              <a:lnSpc>
                <a:spcPct val="100000"/>
              </a:lnSpc>
              <a:spcBef>
                <a:spcPts val="5"/>
              </a:spcBef>
            </a:pPr>
            <a:r>
              <a:rPr lang="en-US" sz="1800" i="1" dirty="0">
                <a:latin typeface="Calibri"/>
                <a:cs typeface="Calibri"/>
              </a:rPr>
              <a:t>    </a:t>
            </a:r>
            <a:r>
              <a:rPr sz="1800" i="1" dirty="0">
                <a:latin typeface="Calibri"/>
                <a:cs typeface="Calibri"/>
              </a:rPr>
              <a:t>(</a:t>
            </a:r>
            <a:r>
              <a:rPr sz="1800" i="1" spc="-30" dirty="0">
                <a:latin typeface="Calibri"/>
                <a:cs typeface="Calibri"/>
              </a:rPr>
              <a:t> </a:t>
            </a:r>
            <a:r>
              <a:rPr sz="1800" b="1" dirty="0">
                <a:latin typeface="Calibri"/>
                <a:cs typeface="Calibri"/>
              </a:rPr>
              <a:t>Assistant</a:t>
            </a:r>
            <a:r>
              <a:rPr sz="1800" b="1" spc="-15" dirty="0">
                <a:latin typeface="Calibri"/>
                <a:cs typeface="Calibri"/>
              </a:rPr>
              <a:t> </a:t>
            </a:r>
            <a:r>
              <a:rPr sz="1800" b="1" spc="-10" dirty="0">
                <a:latin typeface="Times New Roman"/>
                <a:cs typeface="Times New Roman"/>
              </a:rPr>
              <a:t>Professor</a:t>
            </a:r>
            <a:r>
              <a:rPr sz="1800" b="1" spc="-30" dirty="0">
                <a:latin typeface="Times New Roman"/>
                <a:cs typeface="Times New Roman"/>
              </a:rPr>
              <a:t> </a:t>
            </a:r>
            <a:r>
              <a:rPr sz="1800" b="1" spc="-50" dirty="0">
                <a:latin typeface="Times New Roman"/>
                <a:cs typeface="Times New Roman"/>
              </a:rPr>
              <a:t>)</a:t>
            </a:r>
            <a:endParaRPr sz="1800" dirty="0">
              <a:latin typeface="Times New Roman"/>
              <a:cs typeface="Times New Roman"/>
            </a:endParaRPr>
          </a:p>
          <a:p>
            <a:pPr marL="2196465">
              <a:lnSpc>
                <a:spcPts val="2155"/>
              </a:lnSpc>
              <a:spcBef>
                <a:spcPts val="795"/>
              </a:spcBef>
            </a:pPr>
            <a:r>
              <a:rPr sz="1800" spc="-10" dirty="0">
                <a:latin typeface="Times New Roman"/>
                <a:cs typeface="Times New Roman"/>
              </a:rPr>
              <a:t>Department</a:t>
            </a:r>
            <a:r>
              <a:rPr sz="1800" spc="-45" dirty="0">
                <a:latin typeface="Times New Roman"/>
                <a:cs typeface="Times New Roman"/>
              </a:rPr>
              <a:t> </a:t>
            </a:r>
            <a:r>
              <a:rPr sz="1800" dirty="0">
                <a:latin typeface="Times New Roman"/>
                <a:cs typeface="Times New Roman"/>
              </a:rPr>
              <a:t>of</a:t>
            </a:r>
            <a:r>
              <a:rPr sz="1800" spc="-40" dirty="0">
                <a:latin typeface="Times New Roman"/>
                <a:cs typeface="Times New Roman"/>
              </a:rPr>
              <a:t> </a:t>
            </a:r>
            <a:r>
              <a:rPr sz="1800" dirty="0">
                <a:latin typeface="Times New Roman"/>
                <a:cs typeface="Times New Roman"/>
              </a:rPr>
              <a:t>Computer</a:t>
            </a:r>
            <a:r>
              <a:rPr sz="1800" spc="-40" dirty="0">
                <a:latin typeface="Times New Roman"/>
                <a:cs typeface="Times New Roman"/>
              </a:rPr>
              <a:t> </a:t>
            </a:r>
            <a:r>
              <a:rPr sz="1800" spc="-10" dirty="0">
                <a:latin typeface="Times New Roman"/>
                <a:cs typeface="Times New Roman"/>
              </a:rPr>
              <a:t>Engineering</a:t>
            </a:r>
            <a:endParaRPr sz="1800" dirty="0">
              <a:latin typeface="Times New Roman"/>
              <a:cs typeface="Times New Roman"/>
            </a:endParaRPr>
          </a:p>
          <a:p>
            <a:pPr marL="12700">
              <a:lnSpc>
                <a:spcPts val="2395"/>
              </a:lnSpc>
            </a:pPr>
            <a:r>
              <a:rPr sz="2000" dirty="0">
                <a:latin typeface="Times New Roman"/>
                <a:cs typeface="Times New Roman"/>
              </a:rPr>
              <a:t>K.</a:t>
            </a:r>
            <a:r>
              <a:rPr sz="2000" spc="-20" dirty="0">
                <a:latin typeface="Times New Roman"/>
                <a:cs typeface="Times New Roman"/>
              </a:rPr>
              <a:t> </a:t>
            </a:r>
            <a:r>
              <a:rPr sz="2000" dirty="0">
                <a:latin typeface="Times New Roman"/>
                <a:cs typeface="Times New Roman"/>
              </a:rPr>
              <a:t>C.</a:t>
            </a:r>
            <a:r>
              <a:rPr sz="2000" spc="-20" dirty="0">
                <a:latin typeface="Times New Roman"/>
                <a:cs typeface="Times New Roman"/>
              </a:rPr>
              <a:t> </a:t>
            </a:r>
            <a:r>
              <a:rPr sz="2000" dirty="0">
                <a:latin typeface="Times New Roman"/>
                <a:cs typeface="Times New Roman"/>
              </a:rPr>
              <a:t>College</a:t>
            </a:r>
            <a:r>
              <a:rPr sz="2000" spc="-25"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dirty="0">
                <a:latin typeface="Times New Roman"/>
                <a:cs typeface="Times New Roman"/>
              </a:rPr>
              <a:t>Engineering</a:t>
            </a:r>
            <a:r>
              <a:rPr sz="2000" spc="-20" dirty="0">
                <a:latin typeface="Times New Roman"/>
                <a:cs typeface="Times New Roman"/>
              </a:rPr>
              <a:t> </a:t>
            </a:r>
            <a:r>
              <a:rPr sz="2000" dirty="0">
                <a:latin typeface="Times New Roman"/>
                <a:cs typeface="Times New Roman"/>
              </a:rPr>
              <a:t>&amp;</a:t>
            </a:r>
            <a:r>
              <a:rPr sz="2000" spc="-25" dirty="0">
                <a:latin typeface="Times New Roman"/>
                <a:cs typeface="Times New Roman"/>
              </a:rPr>
              <a:t> </a:t>
            </a:r>
            <a:r>
              <a:rPr sz="2000" dirty="0">
                <a:latin typeface="Times New Roman"/>
                <a:cs typeface="Times New Roman"/>
              </a:rPr>
              <a:t>Management</a:t>
            </a:r>
            <a:r>
              <a:rPr sz="2000" spc="-25" dirty="0">
                <a:latin typeface="Times New Roman"/>
                <a:cs typeface="Times New Roman"/>
              </a:rPr>
              <a:t> </a:t>
            </a:r>
            <a:r>
              <a:rPr sz="2000" dirty="0">
                <a:latin typeface="Times New Roman"/>
                <a:cs typeface="Times New Roman"/>
              </a:rPr>
              <a:t>Studies</a:t>
            </a:r>
            <a:r>
              <a:rPr sz="2000" spc="-20" dirty="0">
                <a:latin typeface="Times New Roman"/>
                <a:cs typeface="Times New Roman"/>
              </a:rPr>
              <a:t> </a:t>
            </a:r>
            <a:r>
              <a:rPr sz="2000" dirty="0">
                <a:latin typeface="Times New Roman"/>
                <a:cs typeface="Times New Roman"/>
              </a:rPr>
              <a:t>&amp;</a:t>
            </a:r>
            <a:r>
              <a:rPr sz="2000" spc="-25" dirty="0">
                <a:latin typeface="Times New Roman"/>
                <a:cs typeface="Times New Roman"/>
              </a:rPr>
              <a:t> </a:t>
            </a:r>
            <a:r>
              <a:rPr sz="2000" dirty="0">
                <a:latin typeface="Times New Roman"/>
                <a:cs typeface="Times New Roman"/>
              </a:rPr>
              <a:t>Research,</a:t>
            </a:r>
            <a:r>
              <a:rPr sz="2000" spc="-20" dirty="0">
                <a:latin typeface="Times New Roman"/>
                <a:cs typeface="Times New Roman"/>
              </a:rPr>
              <a:t> </a:t>
            </a:r>
            <a:r>
              <a:rPr sz="2000" dirty="0">
                <a:latin typeface="Times New Roman"/>
                <a:cs typeface="Times New Roman"/>
              </a:rPr>
              <a:t>Thane</a:t>
            </a:r>
            <a:r>
              <a:rPr sz="2000" spc="-25" dirty="0">
                <a:latin typeface="Times New Roman"/>
                <a:cs typeface="Times New Roman"/>
              </a:rPr>
              <a:t> (E)</a:t>
            </a:r>
            <a:endParaRPr sz="2000" dirty="0">
              <a:latin typeface="Times New Roman"/>
              <a:cs typeface="Times New Roman"/>
            </a:endParaRPr>
          </a:p>
        </p:txBody>
      </p:sp>
      <p:pic>
        <p:nvPicPr>
          <p:cNvPr id="3" name="object 3"/>
          <p:cNvPicPr/>
          <p:nvPr/>
        </p:nvPicPr>
        <p:blipFill>
          <a:blip r:embed="rId2" cstate="print"/>
          <a:stretch>
            <a:fillRect/>
          </a:stretch>
        </p:blipFill>
        <p:spPr>
          <a:xfrm>
            <a:off x="7981816" y="266340"/>
            <a:ext cx="804671" cy="774869"/>
          </a:xfrm>
          <a:prstGeom prst="rect">
            <a:avLst/>
          </a:prstGeom>
        </p:spPr>
      </p:pic>
      <p:sp>
        <p:nvSpPr>
          <p:cNvPr id="4" name="object 4"/>
          <p:cNvSpPr txBox="1"/>
          <p:nvPr/>
        </p:nvSpPr>
        <p:spPr>
          <a:xfrm>
            <a:off x="58737" y="-27377"/>
            <a:ext cx="9026525" cy="5438027"/>
          </a:xfrm>
          <a:prstGeom prst="rect">
            <a:avLst/>
          </a:prstGeom>
        </p:spPr>
        <p:txBody>
          <a:bodyPr vert="horz" wrap="square" lIns="0" tIns="81915" rIns="0" bIns="0" rtlCol="0">
            <a:spAutoFit/>
          </a:bodyPr>
          <a:lstStyle/>
          <a:p>
            <a:pPr marL="3384550">
              <a:lnSpc>
                <a:spcPct val="100000"/>
              </a:lnSpc>
              <a:spcBef>
                <a:spcPts val="645"/>
              </a:spcBef>
            </a:pPr>
            <a:r>
              <a:rPr sz="1600" b="1" spc="-10" dirty="0">
                <a:solidFill>
                  <a:srgbClr val="1F3764"/>
                </a:solidFill>
                <a:latin typeface="Times New Roman"/>
                <a:cs typeface="Times New Roman"/>
              </a:rPr>
              <a:t>Excelssior</a:t>
            </a:r>
            <a:r>
              <a:rPr sz="1600" b="1" spc="-25" dirty="0">
                <a:solidFill>
                  <a:srgbClr val="1F3764"/>
                </a:solidFill>
                <a:latin typeface="Times New Roman"/>
                <a:cs typeface="Times New Roman"/>
              </a:rPr>
              <a:t> </a:t>
            </a:r>
            <a:r>
              <a:rPr sz="1600" b="1" spc="-10" dirty="0">
                <a:solidFill>
                  <a:srgbClr val="1F3764"/>
                </a:solidFill>
                <a:latin typeface="Times New Roman"/>
                <a:cs typeface="Times New Roman"/>
              </a:rPr>
              <a:t>Education</a:t>
            </a:r>
            <a:r>
              <a:rPr sz="1600" b="1" spc="-20" dirty="0">
                <a:solidFill>
                  <a:srgbClr val="1F3764"/>
                </a:solidFill>
                <a:latin typeface="Times New Roman"/>
                <a:cs typeface="Times New Roman"/>
              </a:rPr>
              <a:t> </a:t>
            </a:r>
            <a:r>
              <a:rPr sz="1600" b="1" spc="-10" dirty="0">
                <a:solidFill>
                  <a:srgbClr val="1F3764"/>
                </a:solidFill>
                <a:latin typeface="Times New Roman"/>
                <a:cs typeface="Times New Roman"/>
              </a:rPr>
              <a:t>Society’s</a:t>
            </a:r>
            <a:endParaRPr sz="1600" dirty="0">
              <a:latin typeface="Times New Roman"/>
              <a:cs typeface="Times New Roman"/>
            </a:endParaRPr>
          </a:p>
          <a:p>
            <a:pPr marL="1527175">
              <a:lnSpc>
                <a:spcPct val="100000"/>
              </a:lnSpc>
              <a:spcBef>
                <a:spcPts val="615"/>
              </a:spcBef>
            </a:pPr>
            <a:r>
              <a:rPr sz="1800" b="1" dirty="0">
                <a:solidFill>
                  <a:srgbClr val="1F3764"/>
                </a:solidFill>
                <a:latin typeface="Times New Roman"/>
                <a:cs typeface="Times New Roman"/>
              </a:rPr>
              <a:t>K.</a:t>
            </a:r>
            <a:r>
              <a:rPr sz="1800" b="1" spc="-35" dirty="0">
                <a:solidFill>
                  <a:srgbClr val="1F3764"/>
                </a:solidFill>
                <a:latin typeface="Times New Roman"/>
                <a:cs typeface="Times New Roman"/>
              </a:rPr>
              <a:t> </a:t>
            </a:r>
            <a:r>
              <a:rPr sz="1800" b="1" dirty="0">
                <a:solidFill>
                  <a:srgbClr val="1F3764"/>
                </a:solidFill>
                <a:latin typeface="Times New Roman"/>
                <a:cs typeface="Times New Roman"/>
              </a:rPr>
              <a:t>C.</a:t>
            </a:r>
            <a:r>
              <a:rPr sz="1800" b="1" spc="-35" dirty="0">
                <a:solidFill>
                  <a:srgbClr val="1F3764"/>
                </a:solidFill>
                <a:latin typeface="Times New Roman"/>
                <a:cs typeface="Times New Roman"/>
              </a:rPr>
              <a:t> </a:t>
            </a:r>
            <a:r>
              <a:rPr sz="1800" b="1" dirty="0">
                <a:solidFill>
                  <a:srgbClr val="1F3764"/>
                </a:solidFill>
                <a:latin typeface="Times New Roman"/>
                <a:cs typeface="Times New Roman"/>
              </a:rPr>
              <a:t>College</a:t>
            </a:r>
            <a:r>
              <a:rPr sz="1800" b="1" spc="-35" dirty="0">
                <a:solidFill>
                  <a:srgbClr val="1F3764"/>
                </a:solidFill>
                <a:latin typeface="Times New Roman"/>
                <a:cs typeface="Times New Roman"/>
              </a:rPr>
              <a:t> </a:t>
            </a:r>
            <a:r>
              <a:rPr sz="1800" b="1" dirty="0">
                <a:solidFill>
                  <a:srgbClr val="1F3764"/>
                </a:solidFill>
                <a:latin typeface="Times New Roman"/>
                <a:cs typeface="Times New Roman"/>
              </a:rPr>
              <a:t>of</a:t>
            </a:r>
            <a:r>
              <a:rPr sz="1800" b="1" spc="-30" dirty="0">
                <a:solidFill>
                  <a:srgbClr val="1F3764"/>
                </a:solidFill>
                <a:latin typeface="Times New Roman"/>
                <a:cs typeface="Times New Roman"/>
              </a:rPr>
              <a:t> </a:t>
            </a:r>
            <a:r>
              <a:rPr sz="1800" b="1" dirty="0">
                <a:solidFill>
                  <a:srgbClr val="1F3764"/>
                </a:solidFill>
                <a:latin typeface="Times New Roman"/>
                <a:cs typeface="Times New Roman"/>
              </a:rPr>
              <a:t>Engineering</a:t>
            </a:r>
            <a:r>
              <a:rPr sz="1800" b="1" spc="-35" dirty="0">
                <a:solidFill>
                  <a:srgbClr val="1F3764"/>
                </a:solidFill>
                <a:latin typeface="Times New Roman"/>
                <a:cs typeface="Times New Roman"/>
              </a:rPr>
              <a:t> </a:t>
            </a:r>
            <a:r>
              <a:rPr sz="1800" b="1" dirty="0">
                <a:solidFill>
                  <a:srgbClr val="1F3764"/>
                </a:solidFill>
                <a:latin typeface="Times New Roman"/>
                <a:cs typeface="Times New Roman"/>
              </a:rPr>
              <a:t>&amp;</a:t>
            </a:r>
            <a:r>
              <a:rPr sz="1800" b="1" spc="-30" dirty="0">
                <a:solidFill>
                  <a:srgbClr val="1F3764"/>
                </a:solidFill>
                <a:latin typeface="Times New Roman"/>
                <a:cs typeface="Times New Roman"/>
              </a:rPr>
              <a:t> </a:t>
            </a:r>
            <a:r>
              <a:rPr sz="1800" b="1" dirty="0">
                <a:solidFill>
                  <a:srgbClr val="1F3764"/>
                </a:solidFill>
                <a:latin typeface="Times New Roman"/>
                <a:cs typeface="Times New Roman"/>
              </a:rPr>
              <a:t>Management</a:t>
            </a:r>
            <a:r>
              <a:rPr sz="1800" b="1" spc="-30" dirty="0">
                <a:solidFill>
                  <a:srgbClr val="1F3764"/>
                </a:solidFill>
                <a:latin typeface="Times New Roman"/>
                <a:cs typeface="Times New Roman"/>
              </a:rPr>
              <a:t> </a:t>
            </a:r>
            <a:r>
              <a:rPr sz="1800" b="1" dirty="0">
                <a:solidFill>
                  <a:srgbClr val="1F3764"/>
                </a:solidFill>
                <a:latin typeface="Times New Roman"/>
                <a:cs typeface="Times New Roman"/>
              </a:rPr>
              <a:t>Studies</a:t>
            </a:r>
            <a:r>
              <a:rPr sz="1800" b="1" spc="-35" dirty="0">
                <a:solidFill>
                  <a:srgbClr val="1F3764"/>
                </a:solidFill>
                <a:latin typeface="Times New Roman"/>
                <a:cs typeface="Times New Roman"/>
              </a:rPr>
              <a:t> </a:t>
            </a:r>
            <a:r>
              <a:rPr sz="1800" b="1" dirty="0">
                <a:solidFill>
                  <a:srgbClr val="1F3764"/>
                </a:solidFill>
                <a:latin typeface="Times New Roman"/>
                <a:cs typeface="Times New Roman"/>
              </a:rPr>
              <a:t>&amp;</a:t>
            </a:r>
            <a:r>
              <a:rPr sz="1800" b="1" spc="-30" dirty="0">
                <a:solidFill>
                  <a:srgbClr val="1F3764"/>
                </a:solidFill>
                <a:latin typeface="Times New Roman"/>
                <a:cs typeface="Times New Roman"/>
              </a:rPr>
              <a:t> </a:t>
            </a:r>
            <a:r>
              <a:rPr sz="1800" b="1" spc="-10" dirty="0">
                <a:solidFill>
                  <a:srgbClr val="1F3764"/>
                </a:solidFill>
                <a:latin typeface="Times New Roman"/>
                <a:cs typeface="Times New Roman"/>
              </a:rPr>
              <a:t>Research</a:t>
            </a:r>
            <a:endParaRPr sz="1800" dirty="0">
              <a:latin typeface="Times New Roman"/>
              <a:cs typeface="Times New Roman"/>
            </a:endParaRPr>
          </a:p>
          <a:p>
            <a:pPr marL="1911350" marR="2205355" indent="14604">
              <a:lnSpc>
                <a:spcPct val="100000"/>
              </a:lnSpc>
              <a:spcBef>
                <a:spcPts val="160"/>
              </a:spcBef>
            </a:pPr>
            <a:r>
              <a:rPr sz="1400" b="1" dirty="0">
                <a:solidFill>
                  <a:srgbClr val="1F3764"/>
                </a:solidFill>
                <a:latin typeface="Times New Roman"/>
                <a:cs typeface="Times New Roman"/>
              </a:rPr>
              <a:t>(Affiliated</a:t>
            </a:r>
            <a:r>
              <a:rPr sz="1400" b="1" spc="-30" dirty="0">
                <a:solidFill>
                  <a:srgbClr val="1F3764"/>
                </a:solidFill>
                <a:latin typeface="Times New Roman"/>
                <a:cs typeface="Times New Roman"/>
              </a:rPr>
              <a:t> </a:t>
            </a:r>
            <a:r>
              <a:rPr sz="1400" b="1" dirty="0">
                <a:solidFill>
                  <a:srgbClr val="1F3764"/>
                </a:solidFill>
                <a:latin typeface="Times New Roman"/>
                <a:cs typeface="Times New Roman"/>
              </a:rPr>
              <a:t>to</a:t>
            </a:r>
            <a:r>
              <a:rPr sz="1400" b="1" spc="-20" dirty="0">
                <a:solidFill>
                  <a:srgbClr val="1F3764"/>
                </a:solidFill>
                <a:latin typeface="Times New Roman"/>
                <a:cs typeface="Times New Roman"/>
              </a:rPr>
              <a:t> </a:t>
            </a:r>
            <a:r>
              <a:rPr sz="1400" b="1" dirty="0">
                <a:solidFill>
                  <a:srgbClr val="1F3764"/>
                </a:solidFill>
                <a:latin typeface="Times New Roman"/>
                <a:cs typeface="Times New Roman"/>
              </a:rPr>
              <a:t>the</a:t>
            </a:r>
            <a:r>
              <a:rPr sz="1400" b="1" spc="-25" dirty="0">
                <a:solidFill>
                  <a:srgbClr val="1F3764"/>
                </a:solidFill>
                <a:latin typeface="Times New Roman"/>
                <a:cs typeface="Times New Roman"/>
              </a:rPr>
              <a:t> </a:t>
            </a:r>
            <a:r>
              <a:rPr sz="1400" b="1" dirty="0">
                <a:solidFill>
                  <a:srgbClr val="1F3764"/>
                </a:solidFill>
                <a:latin typeface="Times New Roman"/>
                <a:cs typeface="Times New Roman"/>
              </a:rPr>
              <a:t>University</a:t>
            </a:r>
            <a:r>
              <a:rPr sz="1400" b="1" spc="-20" dirty="0">
                <a:solidFill>
                  <a:srgbClr val="1F3764"/>
                </a:solidFill>
                <a:latin typeface="Times New Roman"/>
                <a:cs typeface="Times New Roman"/>
              </a:rPr>
              <a:t> </a:t>
            </a:r>
            <a:r>
              <a:rPr sz="1400" b="1" dirty="0">
                <a:solidFill>
                  <a:srgbClr val="1F3764"/>
                </a:solidFill>
                <a:latin typeface="Times New Roman"/>
                <a:cs typeface="Times New Roman"/>
              </a:rPr>
              <a:t>of</a:t>
            </a:r>
            <a:r>
              <a:rPr sz="1400" b="1" spc="-20" dirty="0">
                <a:solidFill>
                  <a:srgbClr val="1F3764"/>
                </a:solidFill>
                <a:latin typeface="Times New Roman"/>
                <a:cs typeface="Times New Roman"/>
              </a:rPr>
              <a:t> </a:t>
            </a:r>
            <a:r>
              <a:rPr sz="1400" b="1" dirty="0">
                <a:solidFill>
                  <a:srgbClr val="1F3764"/>
                </a:solidFill>
                <a:latin typeface="Times New Roman"/>
                <a:cs typeface="Times New Roman"/>
              </a:rPr>
              <a:t>Mumbai</a:t>
            </a:r>
            <a:r>
              <a:rPr sz="1400" b="1" spc="-25" dirty="0">
                <a:solidFill>
                  <a:srgbClr val="1F3764"/>
                </a:solidFill>
                <a:latin typeface="Times New Roman"/>
                <a:cs typeface="Times New Roman"/>
              </a:rPr>
              <a:t> </a:t>
            </a:r>
            <a:r>
              <a:rPr sz="1400" b="1" dirty="0">
                <a:solidFill>
                  <a:srgbClr val="1F3764"/>
                </a:solidFill>
                <a:latin typeface="Times New Roman"/>
                <a:cs typeface="Times New Roman"/>
              </a:rPr>
              <a:t>&amp;</a:t>
            </a:r>
            <a:r>
              <a:rPr sz="1400" b="1" spc="-20" dirty="0">
                <a:solidFill>
                  <a:srgbClr val="1F3764"/>
                </a:solidFill>
                <a:latin typeface="Times New Roman"/>
                <a:cs typeface="Times New Roman"/>
              </a:rPr>
              <a:t> </a:t>
            </a:r>
            <a:r>
              <a:rPr sz="1400" b="1" dirty="0">
                <a:solidFill>
                  <a:srgbClr val="1F3764"/>
                </a:solidFill>
                <a:latin typeface="Times New Roman"/>
                <a:cs typeface="Times New Roman"/>
              </a:rPr>
              <a:t>Approved</a:t>
            </a:r>
            <a:r>
              <a:rPr sz="1400" b="1" spc="-25" dirty="0">
                <a:solidFill>
                  <a:srgbClr val="1F3764"/>
                </a:solidFill>
                <a:latin typeface="Times New Roman"/>
                <a:cs typeface="Times New Roman"/>
              </a:rPr>
              <a:t> </a:t>
            </a:r>
            <a:r>
              <a:rPr sz="1400" b="1" dirty="0">
                <a:solidFill>
                  <a:srgbClr val="1F3764"/>
                </a:solidFill>
                <a:latin typeface="Times New Roman"/>
                <a:cs typeface="Times New Roman"/>
              </a:rPr>
              <a:t>by</a:t>
            </a:r>
            <a:r>
              <a:rPr sz="1400" b="1" spc="-20" dirty="0">
                <a:solidFill>
                  <a:srgbClr val="1F3764"/>
                </a:solidFill>
                <a:latin typeface="Times New Roman"/>
                <a:cs typeface="Times New Roman"/>
              </a:rPr>
              <a:t> </a:t>
            </a:r>
            <a:r>
              <a:rPr sz="1400" b="1" spc="-10" dirty="0">
                <a:solidFill>
                  <a:srgbClr val="1F3764"/>
                </a:solidFill>
                <a:latin typeface="Times New Roman"/>
                <a:cs typeface="Times New Roman"/>
              </a:rPr>
              <a:t>AICTE) </a:t>
            </a:r>
            <a:r>
              <a:rPr sz="1400" b="1" dirty="0">
                <a:solidFill>
                  <a:srgbClr val="1F3764"/>
                </a:solidFill>
                <a:latin typeface="Times New Roman"/>
                <a:cs typeface="Times New Roman"/>
              </a:rPr>
              <a:t>Mith</a:t>
            </a:r>
            <a:r>
              <a:rPr sz="1400" b="1" spc="-20" dirty="0">
                <a:solidFill>
                  <a:srgbClr val="1F3764"/>
                </a:solidFill>
                <a:latin typeface="Times New Roman"/>
                <a:cs typeface="Times New Roman"/>
              </a:rPr>
              <a:t> </a:t>
            </a:r>
            <a:r>
              <a:rPr sz="1400" b="1" dirty="0">
                <a:solidFill>
                  <a:srgbClr val="1F3764"/>
                </a:solidFill>
                <a:latin typeface="Times New Roman"/>
                <a:cs typeface="Times New Roman"/>
              </a:rPr>
              <a:t>Bunder</a:t>
            </a:r>
            <a:r>
              <a:rPr sz="1400" b="1" spc="-15" dirty="0">
                <a:solidFill>
                  <a:srgbClr val="1F3764"/>
                </a:solidFill>
                <a:latin typeface="Times New Roman"/>
                <a:cs typeface="Times New Roman"/>
              </a:rPr>
              <a:t> </a:t>
            </a:r>
            <a:r>
              <a:rPr sz="1400" b="1" dirty="0">
                <a:solidFill>
                  <a:srgbClr val="1F3764"/>
                </a:solidFill>
                <a:latin typeface="Times New Roman"/>
                <a:cs typeface="Times New Roman"/>
              </a:rPr>
              <a:t>Road,</a:t>
            </a:r>
            <a:r>
              <a:rPr sz="1400" b="1" spc="-15" dirty="0">
                <a:solidFill>
                  <a:srgbClr val="1F3764"/>
                </a:solidFill>
                <a:latin typeface="Times New Roman"/>
                <a:cs typeface="Times New Roman"/>
              </a:rPr>
              <a:t> </a:t>
            </a:r>
            <a:r>
              <a:rPr sz="1400" b="1" dirty="0">
                <a:solidFill>
                  <a:srgbClr val="1F3764"/>
                </a:solidFill>
                <a:latin typeface="Times New Roman"/>
                <a:cs typeface="Times New Roman"/>
              </a:rPr>
              <a:t>Near</a:t>
            </a:r>
            <a:r>
              <a:rPr sz="1400" b="1" spc="-15" dirty="0">
                <a:solidFill>
                  <a:srgbClr val="1F3764"/>
                </a:solidFill>
                <a:latin typeface="Times New Roman"/>
                <a:cs typeface="Times New Roman"/>
              </a:rPr>
              <a:t> </a:t>
            </a:r>
            <a:r>
              <a:rPr sz="1400" b="1" dirty="0">
                <a:solidFill>
                  <a:srgbClr val="1F3764"/>
                </a:solidFill>
                <a:latin typeface="Times New Roman"/>
                <a:cs typeface="Times New Roman"/>
              </a:rPr>
              <a:t>Hume</a:t>
            </a:r>
            <a:r>
              <a:rPr sz="1400" b="1" spc="-15" dirty="0">
                <a:solidFill>
                  <a:srgbClr val="1F3764"/>
                </a:solidFill>
                <a:latin typeface="Times New Roman"/>
                <a:cs typeface="Times New Roman"/>
              </a:rPr>
              <a:t> </a:t>
            </a:r>
            <a:r>
              <a:rPr sz="1400" b="1" dirty="0">
                <a:solidFill>
                  <a:srgbClr val="1F3764"/>
                </a:solidFill>
                <a:latin typeface="Times New Roman"/>
                <a:cs typeface="Times New Roman"/>
              </a:rPr>
              <a:t>Pipe,</a:t>
            </a:r>
            <a:r>
              <a:rPr sz="1400" b="1" spc="-15" dirty="0">
                <a:solidFill>
                  <a:srgbClr val="1F3764"/>
                </a:solidFill>
                <a:latin typeface="Times New Roman"/>
                <a:cs typeface="Times New Roman"/>
              </a:rPr>
              <a:t> </a:t>
            </a:r>
            <a:r>
              <a:rPr sz="1400" b="1" dirty="0">
                <a:solidFill>
                  <a:srgbClr val="1F3764"/>
                </a:solidFill>
                <a:latin typeface="Times New Roman"/>
                <a:cs typeface="Times New Roman"/>
              </a:rPr>
              <a:t>Kopri,</a:t>
            </a:r>
            <a:r>
              <a:rPr sz="1400" b="1" spc="-10" dirty="0">
                <a:solidFill>
                  <a:srgbClr val="1F3764"/>
                </a:solidFill>
                <a:latin typeface="Times New Roman"/>
                <a:cs typeface="Times New Roman"/>
              </a:rPr>
              <a:t> </a:t>
            </a:r>
            <a:r>
              <a:rPr sz="1400" b="1" dirty="0">
                <a:solidFill>
                  <a:srgbClr val="1F3764"/>
                </a:solidFill>
                <a:latin typeface="Times New Roman"/>
                <a:cs typeface="Times New Roman"/>
              </a:rPr>
              <a:t>Thane</a:t>
            </a:r>
            <a:r>
              <a:rPr sz="1400" b="1" spc="-20" dirty="0">
                <a:solidFill>
                  <a:srgbClr val="1F3764"/>
                </a:solidFill>
                <a:latin typeface="Times New Roman"/>
                <a:cs typeface="Times New Roman"/>
              </a:rPr>
              <a:t> </a:t>
            </a:r>
            <a:r>
              <a:rPr sz="1400" b="1" dirty="0">
                <a:solidFill>
                  <a:srgbClr val="1F3764"/>
                </a:solidFill>
                <a:latin typeface="Times New Roman"/>
                <a:cs typeface="Times New Roman"/>
              </a:rPr>
              <a:t>(E)</a:t>
            </a:r>
            <a:r>
              <a:rPr sz="1400" b="1" spc="-10" dirty="0">
                <a:solidFill>
                  <a:srgbClr val="1F3764"/>
                </a:solidFill>
                <a:latin typeface="Times New Roman"/>
                <a:cs typeface="Times New Roman"/>
              </a:rPr>
              <a:t> </a:t>
            </a:r>
            <a:r>
              <a:rPr sz="1400" b="1" dirty="0">
                <a:solidFill>
                  <a:srgbClr val="1F3764"/>
                </a:solidFill>
                <a:latin typeface="Times New Roman"/>
                <a:cs typeface="Times New Roman"/>
              </a:rPr>
              <a:t>–</a:t>
            </a:r>
            <a:r>
              <a:rPr sz="1400" b="1" spc="-10" dirty="0">
                <a:solidFill>
                  <a:srgbClr val="1F3764"/>
                </a:solidFill>
                <a:latin typeface="Times New Roman"/>
                <a:cs typeface="Times New Roman"/>
              </a:rPr>
              <a:t> 400603</a:t>
            </a:r>
            <a:endParaRPr sz="1400" dirty="0">
              <a:latin typeface="Times New Roman"/>
              <a:cs typeface="Times New Roman"/>
            </a:endParaRPr>
          </a:p>
          <a:p>
            <a:pPr marL="12700">
              <a:lnSpc>
                <a:spcPct val="100000"/>
              </a:lnSpc>
              <a:tabLst>
                <a:tab pos="3032125" algn="l"/>
                <a:tab pos="9013190" algn="l"/>
              </a:tabLst>
            </a:pPr>
            <a:r>
              <a:rPr sz="1400" u="sng" dirty="0">
                <a:solidFill>
                  <a:srgbClr val="1F3764"/>
                </a:solidFill>
                <a:uFill>
                  <a:solidFill>
                    <a:srgbClr val="4A7DBA"/>
                  </a:solidFill>
                </a:uFill>
                <a:latin typeface="Times New Roman"/>
                <a:cs typeface="Times New Roman"/>
              </a:rPr>
              <a:t>	</a:t>
            </a:r>
            <a:r>
              <a:rPr sz="1400" b="1" u="sng" dirty="0">
                <a:solidFill>
                  <a:srgbClr val="1F3764"/>
                </a:solidFill>
                <a:uFill>
                  <a:solidFill>
                    <a:srgbClr val="4A7DBA"/>
                  </a:solidFill>
                </a:uFill>
                <a:latin typeface="Times New Roman"/>
                <a:cs typeface="Times New Roman"/>
              </a:rPr>
              <a:t>NAAC</a:t>
            </a:r>
            <a:r>
              <a:rPr sz="1400" b="1" u="sng" spc="-35" dirty="0">
                <a:solidFill>
                  <a:srgbClr val="1F3764"/>
                </a:solidFill>
                <a:uFill>
                  <a:solidFill>
                    <a:srgbClr val="4A7DBA"/>
                  </a:solidFill>
                </a:uFill>
                <a:latin typeface="Times New Roman"/>
                <a:cs typeface="Times New Roman"/>
              </a:rPr>
              <a:t> </a:t>
            </a:r>
            <a:r>
              <a:rPr sz="1400" b="1" u="sng" spc="-10" dirty="0">
                <a:solidFill>
                  <a:srgbClr val="1F3764"/>
                </a:solidFill>
                <a:uFill>
                  <a:solidFill>
                    <a:srgbClr val="4A7DBA"/>
                  </a:solidFill>
                </a:uFill>
                <a:latin typeface="Times New Roman"/>
                <a:cs typeface="Times New Roman"/>
              </a:rPr>
              <a:t>Accredited</a:t>
            </a:r>
            <a:r>
              <a:rPr sz="1400" b="1" u="sng" spc="-30" dirty="0">
                <a:solidFill>
                  <a:srgbClr val="1F3764"/>
                </a:solidFill>
                <a:uFill>
                  <a:solidFill>
                    <a:srgbClr val="4A7DBA"/>
                  </a:solidFill>
                </a:uFill>
                <a:latin typeface="Times New Roman"/>
                <a:cs typeface="Times New Roman"/>
              </a:rPr>
              <a:t> </a:t>
            </a:r>
            <a:r>
              <a:rPr sz="1400" b="1" u="sng" dirty="0">
                <a:solidFill>
                  <a:srgbClr val="1F3764"/>
                </a:solidFill>
                <a:uFill>
                  <a:solidFill>
                    <a:srgbClr val="4A7DBA"/>
                  </a:solidFill>
                </a:uFill>
                <a:latin typeface="Times New Roman"/>
                <a:cs typeface="Times New Roman"/>
              </a:rPr>
              <a:t>with</a:t>
            </a:r>
            <a:r>
              <a:rPr sz="1400" b="1" u="sng" spc="-35" dirty="0">
                <a:solidFill>
                  <a:srgbClr val="1F3764"/>
                </a:solidFill>
                <a:uFill>
                  <a:solidFill>
                    <a:srgbClr val="4A7DBA"/>
                  </a:solidFill>
                </a:uFill>
                <a:latin typeface="Times New Roman"/>
                <a:cs typeface="Times New Roman"/>
              </a:rPr>
              <a:t> </a:t>
            </a:r>
            <a:r>
              <a:rPr sz="1400" b="1" u="sng" dirty="0">
                <a:solidFill>
                  <a:srgbClr val="1F3764"/>
                </a:solidFill>
                <a:uFill>
                  <a:solidFill>
                    <a:srgbClr val="4A7DBA"/>
                  </a:solidFill>
                </a:uFill>
                <a:latin typeface="Times New Roman"/>
                <a:cs typeface="Times New Roman"/>
              </a:rPr>
              <a:t>B++</a:t>
            </a:r>
            <a:r>
              <a:rPr sz="1400" b="1" u="sng" spc="-30" dirty="0">
                <a:solidFill>
                  <a:srgbClr val="1F3764"/>
                </a:solidFill>
                <a:uFill>
                  <a:solidFill>
                    <a:srgbClr val="4A7DBA"/>
                  </a:solidFill>
                </a:uFill>
                <a:latin typeface="Times New Roman"/>
                <a:cs typeface="Times New Roman"/>
              </a:rPr>
              <a:t> </a:t>
            </a:r>
            <a:r>
              <a:rPr sz="1400" b="1" u="sng" spc="-10" dirty="0">
                <a:solidFill>
                  <a:srgbClr val="1F3764"/>
                </a:solidFill>
                <a:uFill>
                  <a:solidFill>
                    <a:srgbClr val="4A7DBA"/>
                  </a:solidFill>
                </a:uFill>
                <a:latin typeface="Times New Roman"/>
                <a:cs typeface="Times New Roman"/>
              </a:rPr>
              <a:t>Grade</a:t>
            </a:r>
            <a:r>
              <a:rPr sz="1400" b="1" u="sng" dirty="0">
                <a:solidFill>
                  <a:srgbClr val="1F3764"/>
                </a:solidFill>
                <a:uFill>
                  <a:solidFill>
                    <a:srgbClr val="4A7DBA"/>
                  </a:solidFill>
                </a:uFill>
                <a:latin typeface="Times New Roman"/>
                <a:cs typeface="Times New Roman"/>
              </a:rPr>
              <a:t>	</a:t>
            </a:r>
            <a:endParaRPr sz="1400" dirty="0">
              <a:latin typeface="Times New Roman"/>
              <a:cs typeface="Times New Roman"/>
            </a:endParaRPr>
          </a:p>
          <a:p>
            <a:pPr marL="147320" algn="ctr">
              <a:lnSpc>
                <a:spcPct val="100000"/>
              </a:lnSpc>
              <a:spcBef>
                <a:spcPts val="595"/>
              </a:spcBef>
            </a:pPr>
            <a:r>
              <a:rPr sz="2100" b="1" dirty="0">
                <a:solidFill>
                  <a:srgbClr val="8E0000"/>
                </a:solidFill>
                <a:latin typeface="Times New Roman"/>
                <a:cs typeface="Times New Roman"/>
              </a:rPr>
              <a:t>For</a:t>
            </a:r>
            <a:r>
              <a:rPr sz="2100" b="1" spc="-45" dirty="0">
                <a:solidFill>
                  <a:srgbClr val="8E0000"/>
                </a:solidFill>
                <a:latin typeface="Times New Roman"/>
                <a:cs typeface="Times New Roman"/>
              </a:rPr>
              <a:t> </a:t>
            </a:r>
            <a:r>
              <a:rPr sz="2100" b="1" dirty="0">
                <a:solidFill>
                  <a:srgbClr val="8E0000"/>
                </a:solidFill>
                <a:latin typeface="Times New Roman"/>
                <a:cs typeface="Times New Roman"/>
              </a:rPr>
              <a:t>the</a:t>
            </a:r>
            <a:r>
              <a:rPr sz="2100" b="1" spc="-45" dirty="0">
                <a:solidFill>
                  <a:srgbClr val="8E0000"/>
                </a:solidFill>
                <a:latin typeface="Times New Roman"/>
                <a:cs typeface="Times New Roman"/>
              </a:rPr>
              <a:t> </a:t>
            </a:r>
            <a:r>
              <a:rPr sz="2100" b="1" dirty="0">
                <a:solidFill>
                  <a:srgbClr val="8E0000"/>
                </a:solidFill>
                <a:latin typeface="Times New Roman"/>
                <a:cs typeface="Times New Roman"/>
              </a:rPr>
              <a:t>Degree</a:t>
            </a:r>
            <a:r>
              <a:rPr sz="2100" b="1" spc="-45" dirty="0">
                <a:solidFill>
                  <a:srgbClr val="8E0000"/>
                </a:solidFill>
                <a:latin typeface="Times New Roman"/>
                <a:cs typeface="Times New Roman"/>
              </a:rPr>
              <a:t> </a:t>
            </a:r>
            <a:r>
              <a:rPr sz="2100" b="1" dirty="0">
                <a:solidFill>
                  <a:srgbClr val="8E0000"/>
                </a:solidFill>
                <a:latin typeface="Times New Roman"/>
                <a:cs typeface="Times New Roman"/>
              </a:rPr>
              <a:t>of</a:t>
            </a:r>
            <a:r>
              <a:rPr sz="2100" b="1" spc="-40" dirty="0">
                <a:solidFill>
                  <a:srgbClr val="8E0000"/>
                </a:solidFill>
                <a:latin typeface="Times New Roman"/>
                <a:cs typeface="Times New Roman"/>
              </a:rPr>
              <a:t> </a:t>
            </a:r>
            <a:r>
              <a:rPr sz="2100" b="1" spc="-10" dirty="0">
                <a:solidFill>
                  <a:srgbClr val="8E0000"/>
                </a:solidFill>
                <a:latin typeface="Times New Roman"/>
                <a:cs typeface="Times New Roman"/>
              </a:rPr>
              <a:t>Bachelors</a:t>
            </a:r>
            <a:r>
              <a:rPr sz="2100" b="1" spc="-45" dirty="0">
                <a:solidFill>
                  <a:srgbClr val="8E0000"/>
                </a:solidFill>
                <a:latin typeface="Times New Roman"/>
                <a:cs typeface="Times New Roman"/>
              </a:rPr>
              <a:t> </a:t>
            </a:r>
            <a:r>
              <a:rPr sz="2100" b="1" dirty="0">
                <a:solidFill>
                  <a:srgbClr val="8E0000"/>
                </a:solidFill>
                <a:latin typeface="Times New Roman"/>
                <a:cs typeface="Times New Roman"/>
              </a:rPr>
              <a:t>of</a:t>
            </a:r>
            <a:r>
              <a:rPr sz="2100" b="1" spc="-40" dirty="0">
                <a:solidFill>
                  <a:srgbClr val="8E0000"/>
                </a:solidFill>
                <a:latin typeface="Times New Roman"/>
                <a:cs typeface="Times New Roman"/>
              </a:rPr>
              <a:t> </a:t>
            </a:r>
            <a:r>
              <a:rPr sz="2100" b="1" dirty="0">
                <a:solidFill>
                  <a:srgbClr val="8E0000"/>
                </a:solidFill>
                <a:latin typeface="Times New Roman"/>
                <a:cs typeface="Times New Roman"/>
              </a:rPr>
              <a:t>Computer</a:t>
            </a:r>
            <a:r>
              <a:rPr sz="2100" b="1" spc="-45" dirty="0">
                <a:solidFill>
                  <a:srgbClr val="8E0000"/>
                </a:solidFill>
                <a:latin typeface="Times New Roman"/>
                <a:cs typeface="Times New Roman"/>
              </a:rPr>
              <a:t> </a:t>
            </a:r>
            <a:r>
              <a:rPr sz="2100" b="1" spc="-10" dirty="0">
                <a:solidFill>
                  <a:srgbClr val="8E0000"/>
                </a:solidFill>
                <a:latin typeface="Times New Roman"/>
                <a:cs typeface="Times New Roman"/>
              </a:rPr>
              <a:t>Engineering</a:t>
            </a:r>
            <a:endParaRPr sz="2100" dirty="0">
              <a:latin typeface="Times New Roman"/>
              <a:cs typeface="Times New Roman"/>
            </a:endParaRPr>
          </a:p>
          <a:p>
            <a:pPr marL="150495" algn="ctr">
              <a:lnSpc>
                <a:spcPct val="100000"/>
              </a:lnSpc>
              <a:spcBef>
                <a:spcPts val="5"/>
              </a:spcBef>
            </a:pPr>
            <a:r>
              <a:rPr sz="2000" b="1" dirty="0">
                <a:latin typeface="Times New Roman"/>
                <a:cs typeface="Times New Roman"/>
              </a:rPr>
              <a:t>Academic</a:t>
            </a:r>
            <a:r>
              <a:rPr sz="2000" b="1" spc="-55" dirty="0">
                <a:latin typeface="Times New Roman"/>
                <a:cs typeface="Times New Roman"/>
              </a:rPr>
              <a:t> </a:t>
            </a:r>
            <a:r>
              <a:rPr sz="2000" b="1" dirty="0">
                <a:latin typeface="Times New Roman"/>
                <a:cs typeface="Times New Roman"/>
              </a:rPr>
              <a:t>Year</a:t>
            </a:r>
            <a:r>
              <a:rPr sz="2000" b="1" spc="-50" dirty="0">
                <a:latin typeface="Times New Roman"/>
                <a:cs typeface="Times New Roman"/>
              </a:rPr>
              <a:t> </a:t>
            </a:r>
            <a:r>
              <a:rPr sz="2000" b="1" dirty="0">
                <a:latin typeface="Times New Roman"/>
                <a:cs typeface="Times New Roman"/>
              </a:rPr>
              <a:t>2023-</a:t>
            </a:r>
            <a:r>
              <a:rPr sz="2000" b="1" spc="-25" dirty="0">
                <a:latin typeface="Times New Roman"/>
                <a:cs typeface="Times New Roman"/>
              </a:rPr>
              <a:t>24</a:t>
            </a:r>
            <a:endParaRPr sz="2000" dirty="0">
              <a:latin typeface="Times New Roman"/>
              <a:cs typeface="Times New Roman"/>
            </a:endParaRPr>
          </a:p>
          <a:p>
            <a:pPr marL="149860" algn="ctr">
              <a:spcBef>
                <a:spcPts val="1695"/>
              </a:spcBef>
            </a:pPr>
            <a:r>
              <a:rPr lang="en-US" sz="2400" b="1" spc="-10" dirty="0" err="1">
                <a:latin typeface="Times New Roman"/>
                <a:cs typeface="Times New Roman"/>
              </a:rPr>
              <a:t>FlowFusion</a:t>
            </a:r>
            <a:r>
              <a:rPr lang="en-US" sz="2400" b="1" spc="-10" dirty="0">
                <a:latin typeface="Times New Roman"/>
                <a:cs typeface="Times New Roman"/>
              </a:rPr>
              <a:t>: Pseudocode to Python code with flowchart precision</a:t>
            </a:r>
            <a:endParaRPr sz="2400" dirty="0">
              <a:latin typeface="Times New Roman"/>
              <a:cs typeface="Times New Roman"/>
            </a:endParaRPr>
          </a:p>
          <a:p>
            <a:pPr marL="2520000"/>
            <a:endParaRPr lang="en-US" sz="1800" dirty="0">
              <a:latin typeface="Calibri"/>
              <a:cs typeface="Calibri"/>
            </a:endParaRPr>
          </a:p>
          <a:p>
            <a:pPr marL="2520000"/>
            <a:r>
              <a:rPr sz="1800" dirty="0">
                <a:latin typeface="Calibri"/>
                <a:cs typeface="Calibri"/>
              </a:rPr>
              <a:t>S</a:t>
            </a:r>
            <a:r>
              <a:rPr lang="en-US" sz="1800" dirty="0">
                <a:latin typeface="Calibri"/>
                <a:cs typeface="Calibri"/>
              </a:rPr>
              <a:t>anket Parulekar</a:t>
            </a:r>
            <a:r>
              <a:rPr sz="1800" spc="-40" dirty="0">
                <a:latin typeface="Calibri"/>
                <a:cs typeface="Calibri"/>
              </a:rPr>
              <a:t> </a:t>
            </a:r>
            <a:r>
              <a:rPr lang="en-US" sz="1800" spc="-40" dirty="0">
                <a:latin typeface="Calibri"/>
                <a:cs typeface="Calibri"/>
              </a:rPr>
              <a:t> </a:t>
            </a:r>
            <a:r>
              <a:rPr lang="en-US" spc="-40" dirty="0">
                <a:latin typeface="Calibri"/>
                <a:cs typeface="Calibri"/>
              </a:rPr>
              <a:t>B-03</a:t>
            </a:r>
            <a:r>
              <a:rPr sz="1800" spc="340" dirty="0">
                <a:latin typeface="Calibri"/>
                <a:cs typeface="Calibri"/>
              </a:rPr>
              <a:t> </a:t>
            </a:r>
            <a:r>
              <a:rPr lang="en-US" sz="1800" spc="340" dirty="0">
                <a:latin typeface="Calibri"/>
                <a:cs typeface="Calibri"/>
              </a:rPr>
              <a:t>(</a:t>
            </a:r>
            <a:r>
              <a:rPr lang="en-IN" sz="1800" spc="340" dirty="0">
                <a:latin typeface="Calibri"/>
                <a:cs typeface="Calibri"/>
              </a:rPr>
              <a:t>2021016402110992</a:t>
            </a:r>
            <a:r>
              <a:rPr lang="en-US" sz="1800" spc="340" dirty="0">
                <a:latin typeface="Calibri"/>
                <a:cs typeface="Calibri"/>
              </a:rPr>
              <a:t>)</a:t>
            </a:r>
          </a:p>
          <a:p>
            <a:pPr marL="2520000"/>
            <a:r>
              <a:rPr lang="en-IN" spc="-40" dirty="0" err="1">
                <a:latin typeface="Calibri"/>
                <a:cs typeface="Calibri"/>
              </a:rPr>
              <a:t>Nawazish</a:t>
            </a:r>
            <a:r>
              <a:rPr lang="en-IN" spc="-40" dirty="0">
                <a:latin typeface="Calibri"/>
                <a:cs typeface="Calibri"/>
              </a:rPr>
              <a:t> Patel       B-04</a:t>
            </a:r>
            <a:r>
              <a:rPr lang="en-IN" sz="1800" spc="340" dirty="0">
                <a:latin typeface="Calibri"/>
                <a:cs typeface="Calibri"/>
              </a:rPr>
              <a:t> (2021016402105503)</a:t>
            </a:r>
            <a:endParaRPr lang="en-IN" sz="1800" dirty="0">
              <a:latin typeface="Calibri"/>
              <a:cs typeface="Calibri"/>
            </a:endParaRPr>
          </a:p>
          <a:p>
            <a:pPr marL="2520000"/>
            <a:r>
              <a:rPr lang="en-IN" dirty="0">
                <a:latin typeface="Calibri"/>
                <a:cs typeface="Calibri"/>
              </a:rPr>
              <a:t>Amaan Siddiqui</a:t>
            </a:r>
            <a:r>
              <a:rPr lang="en-IN" sz="1800" spc="-40" dirty="0">
                <a:latin typeface="Calibri"/>
                <a:cs typeface="Calibri"/>
              </a:rPr>
              <a:t>    </a:t>
            </a:r>
            <a:r>
              <a:rPr lang="en-IN" spc="-40" dirty="0">
                <a:latin typeface="Calibri"/>
                <a:cs typeface="Calibri"/>
              </a:rPr>
              <a:t>B-21</a:t>
            </a:r>
            <a:r>
              <a:rPr lang="en-IN" sz="1800" spc="340" dirty="0">
                <a:latin typeface="Calibri"/>
                <a:cs typeface="Calibri"/>
              </a:rPr>
              <a:t> (2021016402107154)</a:t>
            </a:r>
          </a:p>
          <a:p>
            <a:pPr marL="2520000"/>
            <a:r>
              <a:rPr lang="en-IN" sz="1800" spc="-40" dirty="0">
                <a:latin typeface="Calibri"/>
                <a:cs typeface="Calibri"/>
              </a:rPr>
              <a:t>Raj Ti</a:t>
            </a:r>
            <a:r>
              <a:rPr lang="en-IN" spc="-40" dirty="0">
                <a:latin typeface="Calibri"/>
                <a:cs typeface="Calibri"/>
              </a:rPr>
              <a:t>wari            </a:t>
            </a:r>
            <a:r>
              <a:rPr lang="en-IN" sz="1800" spc="-40" dirty="0">
                <a:latin typeface="Calibri"/>
                <a:cs typeface="Calibri"/>
              </a:rPr>
              <a:t>    </a:t>
            </a:r>
            <a:r>
              <a:rPr lang="en-IN" spc="-40" dirty="0">
                <a:latin typeface="Calibri"/>
                <a:cs typeface="Calibri"/>
              </a:rPr>
              <a:t>B-35</a:t>
            </a:r>
            <a:r>
              <a:rPr lang="en-IN" sz="1800" spc="340" dirty="0">
                <a:latin typeface="Calibri"/>
                <a:cs typeface="Calibri"/>
              </a:rPr>
              <a:t> (2021016402107193)</a:t>
            </a:r>
          </a:p>
          <a:p>
            <a:pPr marL="2520000"/>
            <a:endParaRPr lang="en-IN" sz="1800" spc="340" dirty="0">
              <a:latin typeface="Calibri"/>
              <a:cs typeface="Calibri"/>
            </a:endParaRPr>
          </a:p>
          <a:p>
            <a:pPr marL="2520000"/>
            <a:endParaRPr lang="en-IN" sz="1800" spc="340" dirty="0">
              <a:latin typeface="Calibri"/>
              <a:cs typeface="Calibri"/>
            </a:endParaRPr>
          </a:p>
          <a:p>
            <a:pPr marL="2520000"/>
            <a:endParaRPr lang="en-IN" sz="1800" dirty="0">
              <a:latin typeface="Calibri"/>
              <a:cs typeface="Calibri"/>
            </a:endParaRPr>
          </a:p>
          <a:p>
            <a:pPr marL="2815590">
              <a:lnSpc>
                <a:spcPct val="100000"/>
              </a:lnSpc>
              <a:spcBef>
                <a:spcPts val="2285"/>
              </a:spcBef>
            </a:pPr>
            <a:r>
              <a:rPr lang="en-US" sz="1800" dirty="0">
                <a:latin typeface="Calibri"/>
                <a:cs typeface="Calibri"/>
              </a:rPr>
              <a:t> </a:t>
            </a:r>
            <a:endParaRPr sz="1800" dirty="0">
              <a:latin typeface="Calibri"/>
              <a:cs typeface="Calibri"/>
            </a:endParaRPr>
          </a:p>
        </p:txBody>
      </p:sp>
      <p:pic>
        <p:nvPicPr>
          <p:cNvPr id="5" name="object 5"/>
          <p:cNvPicPr/>
          <p:nvPr/>
        </p:nvPicPr>
        <p:blipFill>
          <a:blip r:embed="rId3" cstate="print"/>
          <a:stretch>
            <a:fillRect/>
          </a:stretch>
        </p:blipFill>
        <p:spPr>
          <a:xfrm>
            <a:off x="304800" y="203571"/>
            <a:ext cx="1192646" cy="843371"/>
          </a:xfrm>
          <a:prstGeom prst="rect">
            <a:avLst/>
          </a:prstGeom>
        </p:spPr>
      </p:pic>
      <p:pic>
        <p:nvPicPr>
          <p:cNvPr id="6" name="object 6"/>
          <p:cNvPicPr/>
          <p:nvPr/>
        </p:nvPicPr>
        <p:blipFill>
          <a:blip r:embed="rId4" cstate="print"/>
          <a:stretch>
            <a:fillRect/>
          </a:stretch>
        </p:blipFill>
        <p:spPr>
          <a:xfrm>
            <a:off x="573085" y="4308596"/>
            <a:ext cx="1500197" cy="792044"/>
          </a:xfrm>
          <a:prstGeom prst="rect">
            <a:avLst/>
          </a:prstGeom>
        </p:spPr>
      </p:pic>
      <p:pic>
        <p:nvPicPr>
          <p:cNvPr id="7" name="object 7"/>
          <p:cNvPicPr/>
          <p:nvPr/>
        </p:nvPicPr>
        <p:blipFill>
          <a:blip r:embed="rId5" cstate="print"/>
          <a:stretch>
            <a:fillRect/>
          </a:stretch>
        </p:blipFill>
        <p:spPr>
          <a:xfrm>
            <a:off x="7450136" y="4308596"/>
            <a:ext cx="1143006" cy="857255"/>
          </a:xfrm>
          <a:prstGeom prst="rect">
            <a:avLst/>
          </a:prstGeom>
        </p:spPr>
      </p:pic>
      <p:sp>
        <p:nvSpPr>
          <p:cNvPr id="8" name="object 8"/>
          <p:cNvSpPr txBox="1">
            <a:spLocks noGrp="1"/>
          </p:cNvSpPr>
          <p:nvPr>
            <p:ph type="dt" sz="half" idx="6"/>
          </p:nvPr>
        </p:nvSpPr>
        <p:spPr>
          <a:xfrm>
            <a:off x="530225" y="6466776"/>
            <a:ext cx="760094" cy="156068"/>
          </a:xfrm>
          <a:prstGeom prst="rect">
            <a:avLst/>
          </a:prstGeom>
        </p:spPr>
        <p:txBody>
          <a:bodyPr vert="horz" wrap="square" lIns="0" tIns="0" rIns="0" bIns="0" rtlCol="0">
            <a:spAutoFit/>
          </a:bodyPr>
          <a:lstStyle/>
          <a:p>
            <a:pPr marL="12700">
              <a:lnSpc>
                <a:spcPts val="1240"/>
              </a:lnSpc>
            </a:pPr>
            <a:r>
              <a:rPr spc="-10" dirty="0"/>
              <a:t>10/1</a:t>
            </a:r>
            <a:r>
              <a:rPr lang="en-US" spc="-10" dirty="0"/>
              <a:t>9</a:t>
            </a:r>
            <a:r>
              <a:rPr spc="-10" dirty="0"/>
              <a:t>/2024</a:t>
            </a:r>
          </a:p>
        </p:txBody>
      </p:sp>
      <p:sp>
        <p:nvSpPr>
          <p:cNvPr id="9" name="object 9"/>
          <p:cNvSpPr txBox="1">
            <a:spLocks noGrp="1"/>
          </p:cNvSpPr>
          <p:nvPr>
            <p:ph type="ftr" sz="quarter" idx="5"/>
          </p:nvPr>
        </p:nvSpPr>
        <p:spPr>
          <a:xfrm>
            <a:off x="4197461" y="6466776"/>
            <a:ext cx="748029" cy="156068"/>
          </a:xfrm>
          <a:prstGeom prst="rect">
            <a:avLst/>
          </a:prstGeom>
        </p:spPr>
        <p:txBody>
          <a:bodyPr vert="horz" wrap="square" lIns="0" tIns="0" rIns="0" bIns="0" rtlCol="0">
            <a:spAutoFit/>
          </a:bodyPr>
          <a:lstStyle/>
          <a:p>
            <a:pPr marL="12700">
              <a:lnSpc>
                <a:spcPts val="1240"/>
              </a:lnSpc>
            </a:pPr>
            <a:r>
              <a:rPr lang="en-US" spc="-10" dirty="0" err="1">
                <a:solidFill>
                  <a:schemeClr val="tx1"/>
                </a:solidFill>
              </a:rPr>
              <a:t>FlowFusion</a:t>
            </a:r>
            <a:endParaRPr spc="-10" dirty="0">
              <a:solidFill>
                <a:schemeClr val="tx1"/>
              </a:solidFill>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a:t>
            </a:fld>
            <a:endParaRPr spc="-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6200" y="0"/>
            <a:ext cx="8682374" cy="892449"/>
          </a:xfrm>
          <a:prstGeom prst="rect">
            <a:avLst/>
          </a:prstGeom>
        </p:spPr>
      </p:pic>
      <p:sp>
        <p:nvSpPr>
          <p:cNvPr id="3" name="object 3"/>
          <p:cNvSpPr txBox="1">
            <a:spLocks noGrp="1"/>
          </p:cNvSpPr>
          <p:nvPr>
            <p:ph type="title"/>
          </p:nvPr>
        </p:nvSpPr>
        <p:spPr>
          <a:xfrm>
            <a:off x="2204030" y="1077976"/>
            <a:ext cx="5139690" cy="452120"/>
          </a:xfrm>
          <a:prstGeom prst="rect">
            <a:avLst/>
          </a:prstGeom>
        </p:spPr>
        <p:txBody>
          <a:bodyPr vert="horz" wrap="square" lIns="0" tIns="12700" rIns="0" bIns="0" rtlCol="0">
            <a:spAutoFit/>
          </a:bodyPr>
          <a:lstStyle/>
          <a:p>
            <a:pPr marL="12700">
              <a:lnSpc>
                <a:spcPct val="100000"/>
              </a:lnSpc>
              <a:spcBef>
                <a:spcPts val="100"/>
              </a:spcBef>
            </a:pPr>
            <a:r>
              <a:rPr sz="2800" dirty="0"/>
              <a:t>OUTLINE</a:t>
            </a:r>
            <a:r>
              <a:rPr sz="2800" spc="-25" dirty="0"/>
              <a:t> </a:t>
            </a:r>
            <a:r>
              <a:rPr sz="2800" dirty="0"/>
              <a:t>OF</a:t>
            </a:r>
            <a:r>
              <a:rPr sz="2800" spc="-20" dirty="0"/>
              <a:t> </a:t>
            </a:r>
            <a:r>
              <a:rPr sz="2800" spc="-10" dirty="0"/>
              <a:t>PRESENTATION</a:t>
            </a:r>
            <a:endParaRPr sz="2800"/>
          </a:p>
        </p:txBody>
      </p:sp>
      <p:sp>
        <p:nvSpPr>
          <p:cNvPr id="32" name="object 32"/>
          <p:cNvSpPr txBox="1">
            <a:spLocks noGrp="1"/>
          </p:cNvSpPr>
          <p:nvPr>
            <p:ph type="dt" sz="half" idx="6"/>
          </p:nvPr>
        </p:nvSpPr>
        <p:spPr>
          <a:xfrm>
            <a:off x="530225" y="6466776"/>
            <a:ext cx="760094" cy="156068"/>
          </a:xfrm>
          <a:prstGeom prst="rect">
            <a:avLst/>
          </a:prstGeom>
        </p:spPr>
        <p:txBody>
          <a:bodyPr vert="horz" wrap="square" lIns="0" tIns="0" rIns="0" bIns="0" rtlCol="0">
            <a:spAutoFit/>
          </a:bodyPr>
          <a:lstStyle/>
          <a:p>
            <a:pPr marL="12700">
              <a:lnSpc>
                <a:spcPts val="1240"/>
              </a:lnSpc>
            </a:pPr>
            <a:r>
              <a:rPr spc="-10" dirty="0"/>
              <a:t>10/1</a:t>
            </a:r>
            <a:r>
              <a:rPr lang="en-US" spc="-10" dirty="0"/>
              <a:t>9</a:t>
            </a:r>
            <a:r>
              <a:rPr spc="-10" dirty="0"/>
              <a:t>/2024</a:t>
            </a:r>
          </a:p>
        </p:txBody>
      </p:sp>
      <p:sp>
        <p:nvSpPr>
          <p:cNvPr id="33" name="object 33"/>
          <p:cNvSpPr txBox="1">
            <a:spLocks noGrp="1"/>
          </p:cNvSpPr>
          <p:nvPr>
            <p:ph type="ftr" sz="quarter" idx="5"/>
          </p:nvPr>
        </p:nvSpPr>
        <p:spPr>
          <a:xfrm>
            <a:off x="4197461" y="6466776"/>
            <a:ext cx="748029" cy="156068"/>
          </a:xfrm>
          <a:prstGeom prst="rect">
            <a:avLst/>
          </a:prstGeom>
        </p:spPr>
        <p:txBody>
          <a:bodyPr vert="horz" wrap="square" lIns="0" tIns="0" rIns="0" bIns="0" rtlCol="0">
            <a:spAutoFit/>
          </a:bodyPr>
          <a:lstStyle/>
          <a:p>
            <a:pPr marL="12700">
              <a:lnSpc>
                <a:spcPts val="1240"/>
              </a:lnSpc>
            </a:pPr>
            <a:r>
              <a:rPr lang="en-US" spc="-10" dirty="0" err="1"/>
              <a:t>FlowFusion</a:t>
            </a:r>
            <a:endParaRPr spc="-10" dirty="0"/>
          </a:p>
        </p:txBody>
      </p:sp>
      <p:sp>
        <p:nvSpPr>
          <p:cNvPr id="34" name="object 3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a:t>
            </a:fld>
            <a:endParaRPr spc="-50" dirty="0"/>
          </a:p>
        </p:txBody>
      </p:sp>
      <p:sp>
        <p:nvSpPr>
          <p:cNvPr id="36" name="TextBox 35">
            <a:extLst>
              <a:ext uri="{FF2B5EF4-FFF2-40B4-BE49-F238E27FC236}">
                <a16:creationId xmlns:a16="http://schemas.microsoft.com/office/drawing/2014/main" id="{D8B172B5-06F1-5944-D6ED-604549FCC753}"/>
              </a:ext>
            </a:extLst>
          </p:cNvPr>
          <p:cNvSpPr txBox="1"/>
          <p:nvPr/>
        </p:nvSpPr>
        <p:spPr>
          <a:xfrm>
            <a:off x="762000" y="1671943"/>
            <a:ext cx="7467600" cy="4806444"/>
          </a:xfrm>
          <a:prstGeom prst="rect">
            <a:avLst/>
          </a:prstGeom>
          <a:noFill/>
        </p:spPr>
        <p:txBody>
          <a:bodyPr wrap="square">
            <a:spAutoFit/>
          </a:bodyPr>
          <a:lstStyle/>
          <a:p>
            <a:pPr marL="719455" marR="1700530" indent="-457200">
              <a:lnSpc>
                <a:spcPct val="100000"/>
              </a:lnSpc>
              <a:spcBef>
                <a:spcPts val="100"/>
              </a:spcBef>
              <a:buFont typeface="Arial" panose="020B0604020202020204" pitchFamily="34" charset="0"/>
              <a:buChar char="•"/>
            </a:pPr>
            <a:r>
              <a:rPr lang="en-US" sz="2400" b="1" spc="-10" dirty="0">
                <a:latin typeface="Times New Roman"/>
                <a:cs typeface="Times New Roman"/>
              </a:rPr>
              <a:t>Introduction</a:t>
            </a:r>
          </a:p>
          <a:p>
            <a:pPr marL="719455" marR="1700530" indent="-457200">
              <a:lnSpc>
                <a:spcPct val="100000"/>
              </a:lnSpc>
              <a:spcBef>
                <a:spcPts val="100"/>
              </a:spcBef>
              <a:buFont typeface="Arial" panose="020B0604020202020204" pitchFamily="34" charset="0"/>
              <a:buChar char="•"/>
            </a:pPr>
            <a:r>
              <a:rPr lang="en-US" sz="2400" b="1" dirty="0">
                <a:latin typeface="Times New Roman"/>
                <a:cs typeface="Times New Roman"/>
              </a:rPr>
              <a:t>Problem </a:t>
            </a:r>
            <a:r>
              <a:rPr lang="en-US" sz="2400" b="1" spc="-10" dirty="0">
                <a:latin typeface="Times New Roman"/>
                <a:cs typeface="Times New Roman"/>
              </a:rPr>
              <a:t>Statement</a:t>
            </a:r>
          </a:p>
          <a:p>
            <a:pPr marL="719455" marR="1700530" indent="-457200">
              <a:lnSpc>
                <a:spcPct val="100000"/>
              </a:lnSpc>
              <a:spcBef>
                <a:spcPts val="100"/>
              </a:spcBef>
              <a:buFont typeface="Arial" panose="020B0604020202020204" pitchFamily="34" charset="0"/>
              <a:buChar char="•"/>
            </a:pPr>
            <a:r>
              <a:rPr lang="en-US" sz="2400" b="1" dirty="0">
                <a:latin typeface="Times New Roman"/>
                <a:cs typeface="Times New Roman"/>
              </a:rPr>
              <a:t>Aims</a:t>
            </a:r>
            <a:r>
              <a:rPr lang="en-US" sz="2400" b="1" spc="-15" dirty="0">
                <a:latin typeface="Times New Roman"/>
                <a:cs typeface="Times New Roman"/>
              </a:rPr>
              <a:t> </a:t>
            </a:r>
            <a:r>
              <a:rPr lang="en-US" sz="2400" b="1" dirty="0">
                <a:latin typeface="Times New Roman"/>
                <a:cs typeface="Times New Roman"/>
              </a:rPr>
              <a:t>&amp;</a:t>
            </a:r>
            <a:r>
              <a:rPr lang="en-US" sz="2400" b="1" spc="-5" dirty="0">
                <a:latin typeface="Times New Roman"/>
                <a:cs typeface="Times New Roman"/>
              </a:rPr>
              <a:t> </a:t>
            </a:r>
            <a:r>
              <a:rPr lang="en-US" sz="2400" b="1" spc="-10" dirty="0">
                <a:latin typeface="Times New Roman"/>
                <a:cs typeface="Times New Roman"/>
              </a:rPr>
              <a:t>Objectives</a:t>
            </a:r>
          </a:p>
          <a:p>
            <a:pPr marL="719455" marR="1700530" indent="-457200">
              <a:spcBef>
                <a:spcPts val="100"/>
              </a:spcBef>
              <a:buFont typeface="Arial" panose="020B0604020202020204" pitchFamily="34" charset="0"/>
              <a:buChar char="•"/>
            </a:pPr>
            <a:r>
              <a:rPr lang="en-US" sz="2400" b="1" dirty="0">
                <a:latin typeface="Times New Roman"/>
                <a:cs typeface="Times New Roman"/>
              </a:rPr>
              <a:t>Literature Survey</a:t>
            </a:r>
            <a:endParaRPr lang="en-US" sz="2400" b="1" spc="-10" dirty="0">
              <a:latin typeface="Calibri"/>
              <a:cs typeface="Calibri"/>
            </a:endParaRPr>
          </a:p>
          <a:p>
            <a:pPr marL="719455" marR="1700530" indent="-457200">
              <a:lnSpc>
                <a:spcPct val="100000"/>
              </a:lnSpc>
              <a:spcBef>
                <a:spcPts val="100"/>
              </a:spcBef>
              <a:buFont typeface="Arial" panose="020B0604020202020204" pitchFamily="34" charset="0"/>
              <a:buChar char="•"/>
            </a:pPr>
            <a:r>
              <a:rPr lang="en-US" sz="2400" b="1" spc="-10" dirty="0">
                <a:latin typeface="Times New Roman" panose="02020603050405020304" pitchFamily="18" charset="0"/>
                <a:cs typeface="Times New Roman" panose="02020603050405020304" pitchFamily="18" charset="0"/>
              </a:rPr>
              <a:t>Methodology</a:t>
            </a:r>
          </a:p>
          <a:p>
            <a:pPr marL="719455" marR="1700530" indent="-457200">
              <a:lnSpc>
                <a:spcPct val="100000"/>
              </a:lnSpc>
              <a:spcBef>
                <a:spcPts val="100"/>
              </a:spcBef>
              <a:buFont typeface="Arial" panose="020B0604020202020204" pitchFamily="34" charset="0"/>
              <a:buChar char="•"/>
            </a:pPr>
            <a:r>
              <a:rPr lang="en-US" sz="2400" b="1" dirty="0">
                <a:latin typeface="Times New Roman"/>
                <a:cs typeface="Times New Roman"/>
              </a:rPr>
              <a:t>Hardware</a:t>
            </a:r>
            <a:r>
              <a:rPr lang="en-US" sz="2400" b="1" spc="-30" dirty="0">
                <a:latin typeface="Times New Roman"/>
                <a:cs typeface="Times New Roman"/>
              </a:rPr>
              <a:t> </a:t>
            </a:r>
            <a:r>
              <a:rPr lang="en-US" sz="2400" b="1" dirty="0">
                <a:latin typeface="Times New Roman"/>
                <a:cs typeface="Times New Roman"/>
              </a:rPr>
              <a:t>&amp;</a:t>
            </a:r>
            <a:r>
              <a:rPr lang="en-US" sz="2400" b="1" spc="-25" dirty="0">
                <a:latin typeface="Times New Roman"/>
                <a:cs typeface="Times New Roman"/>
              </a:rPr>
              <a:t> </a:t>
            </a:r>
            <a:r>
              <a:rPr lang="en-US" sz="2400" b="1" dirty="0">
                <a:latin typeface="Times New Roman"/>
                <a:cs typeface="Times New Roman"/>
              </a:rPr>
              <a:t>Software</a:t>
            </a:r>
            <a:r>
              <a:rPr lang="en-US" sz="2400" b="1" spc="-25" dirty="0">
                <a:latin typeface="Times New Roman"/>
                <a:cs typeface="Times New Roman"/>
              </a:rPr>
              <a:t> </a:t>
            </a:r>
            <a:r>
              <a:rPr lang="en-US" sz="2400" b="1" spc="-10" dirty="0">
                <a:latin typeface="Times New Roman"/>
                <a:cs typeface="Times New Roman"/>
              </a:rPr>
              <a:t>Specification</a:t>
            </a:r>
          </a:p>
          <a:p>
            <a:pPr marL="719455" marR="1700530" indent="-457200">
              <a:spcBef>
                <a:spcPts val="100"/>
              </a:spcBef>
              <a:buFont typeface="Arial" panose="020B0604020202020204" pitchFamily="34" charset="0"/>
              <a:buChar char="•"/>
            </a:pPr>
            <a:r>
              <a:rPr lang="en-US" sz="2400" b="1" dirty="0">
                <a:latin typeface="Times New Roman"/>
                <a:cs typeface="Times New Roman"/>
              </a:rPr>
              <a:t>Result &amp; </a:t>
            </a:r>
            <a:r>
              <a:rPr lang="en-US" sz="2400" b="1" spc="-10" dirty="0">
                <a:latin typeface="Times New Roman"/>
                <a:cs typeface="Times New Roman"/>
              </a:rPr>
              <a:t>Analysis</a:t>
            </a:r>
          </a:p>
          <a:p>
            <a:pPr marL="719455" marR="1700530" indent="-457200">
              <a:spcBef>
                <a:spcPts val="100"/>
              </a:spcBef>
              <a:buFont typeface="Arial" panose="020B0604020202020204" pitchFamily="34" charset="0"/>
              <a:buChar char="•"/>
            </a:pPr>
            <a:r>
              <a:rPr lang="en-US" sz="2400" b="1" spc="-10" dirty="0">
                <a:latin typeface="Times New Roman"/>
                <a:cs typeface="Times New Roman"/>
              </a:rPr>
              <a:t>Conclusion</a:t>
            </a:r>
          </a:p>
          <a:p>
            <a:pPr marL="719455" marR="1700530" indent="-457200">
              <a:spcBef>
                <a:spcPts val="100"/>
              </a:spcBef>
              <a:buFont typeface="Arial" panose="020B0604020202020204" pitchFamily="34" charset="0"/>
              <a:buChar char="•"/>
            </a:pPr>
            <a:r>
              <a:rPr lang="en-US" sz="2400" b="1" spc="-10" dirty="0">
                <a:latin typeface="Times New Roman"/>
                <a:cs typeface="Times New Roman"/>
              </a:rPr>
              <a:t>Acknowledgement References</a:t>
            </a:r>
            <a:endParaRPr lang="en-US" sz="2400" dirty="0">
              <a:latin typeface="Times New Roman"/>
              <a:cs typeface="Times New Roman"/>
            </a:endParaRPr>
          </a:p>
          <a:p>
            <a:pPr marL="262255" marR="1700530">
              <a:spcBef>
                <a:spcPts val="100"/>
              </a:spcBef>
            </a:pPr>
            <a:endParaRPr lang="en-US" sz="1800" dirty="0">
              <a:latin typeface="Times New Roman"/>
              <a:cs typeface="Times New Roman"/>
            </a:endParaRPr>
          </a:p>
          <a:p>
            <a:pPr marL="719455" marR="1700530" indent="-457200">
              <a:spcBef>
                <a:spcPts val="100"/>
              </a:spcBef>
              <a:buFont typeface="+mj-lt"/>
              <a:buAutoNum type="arabicPeriod"/>
            </a:pPr>
            <a:endParaRPr lang="en-US" sz="1800" dirty="0">
              <a:latin typeface="Times New Roman"/>
              <a:cs typeface="Times New Roman"/>
            </a:endParaRPr>
          </a:p>
          <a:p>
            <a:pPr marL="719455" marR="1700530" indent="-457200">
              <a:lnSpc>
                <a:spcPct val="100000"/>
              </a:lnSpc>
              <a:spcBef>
                <a:spcPts val="100"/>
              </a:spcBef>
              <a:buFont typeface="+mj-lt"/>
              <a:buAutoNum type="arabicPeriod"/>
            </a:pPr>
            <a:endParaRPr lang="en-US" sz="1800" dirty="0">
              <a:latin typeface="Calibri"/>
              <a:cs typeface="Calibri"/>
            </a:endParaRPr>
          </a:p>
          <a:p>
            <a:pPr>
              <a:lnSpc>
                <a:spcPct val="100000"/>
              </a:lnSpc>
              <a:spcBef>
                <a:spcPts val="1090"/>
              </a:spcBef>
            </a:pPr>
            <a:endParaRPr lang="en-US" sz="180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50875" y="19000"/>
            <a:ext cx="8665550" cy="839799"/>
          </a:xfrm>
          <a:prstGeom prst="rect">
            <a:avLst/>
          </a:prstGeom>
        </p:spPr>
      </p:pic>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10" dirty="0"/>
              <a:t>INTRODUCTION</a:t>
            </a:r>
          </a:p>
        </p:txBody>
      </p:sp>
      <p:sp>
        <p:nvSpPr>
          <p:cNvPr id="5" name="object 5"/>
          <p:cNvSpPr txBox="1">
            <a:spLocks noGrp="1"/>
          </p:cNvSpPr>
          <p:nvPr>
            <p:ph type="dt" sz="half" idx="6"/>
          </p:nvPr>
        </p:nvSpPr>
        <p:spPr>
          <a:xfrm>
            <a:off x="530225" y="6466776"/>
            <a:ext cx="760094" cy="156068"/>
          </a:xfrm>
          <a:prstGeom prst="rect">
            <a:avLst/>
          </a:prstGeom>
        </p:spPr>
        <p:txBody>
          <a:bodyPr vert="horz" wrap="square" lIns="0" tIns="0" rIns="0" bIns="0" rtlCol="0">
            <a:spAutoFit/>
          </a:bodyPr>
          <a:lstStyle/>
          <a:p>
            <a:pPr marL="12700">
              <a:lnSpc>
                <a:spcPts val="1240"/>
              </a:lnSpc>
            </a:pPr>
            <a:r>
              <a:rPr spc="-10" dirty="0"/>
              <a:t>10/1</a:t>
            </a:r>
            <a:r>
              <a:rPr lang="en-US" spc="-10" dirty="0"/>
              <a:t>9</a:t>
            </a:r>
            <a:r>
              <a:rPr spc="-10" dirty="0"/>
              <a:t>/2024</a:t>
            </a:r>
          </a:p>
        </p:txBody>
      </p:sp>
      <p:sp>
        <p:nvSpPr>
          <p:cNvPr id="6" name="object 6"/>
          <p:cNvSpPr txBox="1">
            <a:spLocks noGrp="1"/>
          </p:cNvSpPr>
          <p:nvPr>
            <p:ph type="ftr" sz="quarter" idx="5"/>
          </p:nvPr>
        </p:nvSpPr>
        <p:spPr>
          <a:xfrm>
            <a:off x="4197461" y="6466776"/>
            <a:ext cx="748029" cy="156068"/>
          </a:xfrm>
          <a:prstGeom prst="rect">
            <a:avLst/>
          </a:prstGeom>
        </p:spPr>
        <p:txBody>
          <a:bodyPr vert="horz" wrap="square" lIns="0" tIns="0" rIns="0" bIns="0" rtlCol="0">
            <a:spAutoFit/>
          </a:bodyPr>
          <a:lstStyle/>
          <a:p>
            <a:pPr marL="12700">
              <a:lnSpc>
                <a:spcPts val="1240"/>
              </a:lnSpc>
            </a:pPr>
            <a:r>
              <a:rPr lang="en-US" spc="-10" dirty="0" err="1"/>
              <a:t>FlowFusion</a:t>
            </a:r>
            <a:endParaRPr spc="-10" dirty="0"/>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3</a:t>
            </a:fld>
            <a:endParaRPr spc="-50" dirty="0"/>
          </a:p>
        </p:txBody>
      </p:sp>
      <p:sp>
        <p:nvSpPr>
          <p:cNvPr id="4" name="object 4"/>
          <p:cNvSpPr txBox="1">
            <a:spLocks noGrp="1"/>
          </p:cNvSpPr>
          <p:nvPr>
            <p:ph type="body" idx="1"/>
          </p:nvPr>
        </p:nvSpPr>
        <p:spPr>
          <a:xfrm>
            <a:off x="152400" y="2278610"/>
            <a:ext cx="9296399" cy="2603085"/>
          </a:xfrm>
          <a:prstGeom prst="rect">
            <a:avLst/>
          </a:prstGeom>
        </p:spPr>
        <p:txBody>
          <a:bodyPr vert="horz" wrap="square" lIns="0" tIns="12700" rIns="0" bIns="0" rtlCol="0">
            <a:spAutoFit/>
          </a:bodyPr>
          <a:lstStyle/>
          <a:p>
            <a:pPr marL="324485" marR="5080" algn="l">
              <a:lnSpc>
                <a:spcPct val="101400"/>
              </a:lnSpc>
            </a:pPr>
            <a:r>
              <a:rPr lang="en-IN" sz="2800" dirty="0">
                <a:latin typeface="Times New Roman" panose="02020603050405020304" pitchFamily="18" charset="0"/>
                <a:cs typeface="Times New Roman" panose="02020603050405020304" pitchFamily="18" charset="0"/>
              </a:rPr>
              <a:t>What is </a:t>
            </a:r>
            <a:r>
              <a:rPr lang="en-IN" sz="2800" dirty="0" err="1">
                <a:latin typeface="Times New Roman" panose="02020603050405020304" pitchFamily="18" charset="0"/>
                <a:cs typeface="Times New Roman" panose="02020603050405020304" pitchFamily="18" charset="0"/>
              </a:rPr>
              <a:t>FlowFusion</a:t>
            </a:r>
            <a:r>
              <a:rPr lang="en-IN" sz="2800" dirty="0">
                <a:latin typeface="Times New Roman" panose="02020603050405020304" pitchFamily="18" charset="0"/>
                <a:cs typeface="Times New Roman" panose="02020603050405020304" pitchFamily="18" charset="0"/>
              </a:rPr>
              <a:t>?</a:t>
            </a:r>
            <a:endParaRPr lang="en-IN" b="0" dirty="0">
              <a:latin typeface="Times New Roman" panose="02020603050405020304" pitchFamily="18" charset="0"/>
              <a:cs typeface="Times New Roman" panose="02020603050405020304" pitchFamily="18" charset="0"/>
            </a:endParaRPr>
          </a:p>
          <a:p>
            <a:pPr marL="324485" marR="5080" algn="just">
              <a:lnSpc>
                <a:spcPct val="101400"/>
              </a:lnSpc>
            </a:pPr>
            <a:r>
              <a:rPr lang="en-IN" b="0" dirty="0">
                <a:latin typeface="Times New Roman" panose="02020603050405020304" pitchFamily="18" charset="0"/>
                <a:cs typeface="Times New Roman" panose="02020603050405020304" pitchFamily="18" charset="0"/>
              </a:rPr>
              <a:t>   </a:t>
            </a:r>
            <a:r>
              <a:rPr lang="en-IN" b="0" dirty="0" err="1">
                <a:latin typeface="Times New Roman" panose="02020603050405020304" pitchFamily="18" charset="0"/>
                <a:cs typeface="Times New Roman" panose="02020603050405020304" pitchFamily="18" charset="0"/>
              </a:rPr>
              <a:t>FlowFusion</a:t>
            </a:r>
            <a:r>
              <a:rPr lang="en-IN" b="0" dirty="0">
                <a:latin typeface="Times New Roman" panose="02020603050405020304" pitchFamily="18" charset="0"/>
                <a:cs typeface="Times New Roman" panose="02020603050405020304" pitchFamily="18" charset="0"/>
              </a:rPr>
              <a:t> is a tool which,</a:t>
            </a:r>
          </a:p>
          <a:p>
            <a:pPr marL="324485" marR="5080" algn="just">
              <a:lnSpc>
                <a:spcPct val="101400"/>
              </a:lnSpc>
            </a:pPr>
            <a:r>
              <a:rPr lang="en-IN" b="0" dirty="0">
                <a:solidFill>
                  <a:srgbClr val="202124"/>
                </a:solidFill>
                <a:latin typeface="Times New Roman" panose="02020603050405020304" pitchFamily="18" charset="0"/>
                <a:cs typeface="Times New Roman" panose="02020603050405020304" pitchFamily="18" charset="0"/>
              </a:rPr>
              <a:t>         a. Convert</a:t>
            </a:r>
            <a:r>
              <a:rPr lang="en-IN" b="0" spc="135" dirty="0">
                <a:solidFill>
                  <a:srgbClr val="202124"/>
                </a:solidFill>
                <a:latin typeface="Times New Roman" panose="02020603050405020304" pitchFamily="18" charset="0"/>
                <a:cs typeface="Times New Roman" panose="02020603050405020304" pitchFamily="18" charset="0"/>
              </a:rPr>
              <a:t> </a:t>
            </a:r>
            <a:r>
              <a:rPr lang="en-IN" b="0" dirty="0">
                <a:solidFill>
                  <a:srgbClr val="202124"/>
                </a:solidFill>
                <a:latin typeface="Times New Roman" panose="02020603050405020304" pitchFamily="18" charset="0"/>
                <a:cs typeface="Times New Roman" panose="02020603050405020304" pitchFamily="18" charset="0"/>
              </a:rPr>
              <a:t>pseudocode</a:t>
            </a:r>
            <a:r>
              <a:rPr lang="en-IN" b="0" spc="140" dirty="0">
                <a:solidFill>
                  <a:srgbClr val="202124"/>
                </a:solidFill>
                <a:latin typeface="Times New Roman" panose="02020603050405020304" pitchFamily="18" charset="0"/>
                <a:cs typeface="Times New Roman" panose="02020603050405020304" pitchFamily="18" charset="0"/>
              </a:rPr>
              <a:t> </a:t>
            </a:r>
            <a:r>
              <a:rPr lang="en-IN" b="0" dirty="0">
                <a:solidFill>
                  <a:srgbClr val="202124"/>
                </a:solidFill>
                <a:latin typeface="Times New Roman" panose="02020603050405020304" pitchFamily="18" charset="0"/>
                <a:cs typeface="Times New Roman" panose="02020603050405020304" pitchFamily="18" charset="0"/>
              </a:rPr>
              <a:t>into</a:t>
            </a:r>
            <a:r>
              <a:rPr lang="en-IN" b="0" spc="135" dirty="0">
                <a:solidFill>
                  <a:srgbClr val="202124"/>
                </a:solidFill>
                <a:latin typeface="Times New Roman" panose="02020603050405020304" pitchFamily="18" charset="0"/>
                <a:cs typeface="Times New Roman" panose="02020603050405020304" pitchFamily="18" charset="0"/>
              </a:rPr>
              <a:t> </a:t>
            </a:r>
            <a:r>
              <a:rPr lang="en-IN" b="0" dirty="0">
                <a:solidFill>
                  <a:srgbClr val="202124"/>
                </a:solidFill>
                <a:latin typeface="Times New Roman" panose="02020603050405020304" pitchFamily="18" charset="0"/>
                <a:cs typeface="Times New Roman" panose="02020603050405020304" pitchFamily="18" charset="0"/>
              </a:rPr>
              <a:t>Python</a:t>
            </a:r>
            <a:r>
              <a:rPr lang="en-IN" b="0" spc="140" dirty="0">
                <a:solidFill>
                  <a:srgbClr val="202124"/>
                </a:solidFill>
                <a:latin typeface="Times New Roman" panose="02020603050405020304" pitchFamily="18" charset="0"/>
                <a:cs typeface="Times New Roman" panose="02020603050405020304" pitchFamily="18" charset="0"/>
              </a:rPr>
              <a:t> </a:t>
            </a:r>
            <a:r>
              <a:rPr lang="en-IN" b="0" dirty="0">
                <a:solidFill>
                  <a:srgbClr val="202124"/>
                </a:solidFill>
                <a:latin typeface="Times New Roman" panose="02020603050405020304" pitchFamily="18" charset="0"/>
                <a:cs typeface="Times New Roman" panose="02020603050405020304" pitchFamily="18" charset="0"/>
              </a:rPr>
              <a:t>code</a:t>
            </a:r>
            <a:r>
              <a:rPr lang="en-IN" b="0" spc="135" dirty="0">
                <a:solidFill>
                  <a:srgbClr val="202124"/>
                </a:solidFill>
                <a:latin typeface="Times New Roman" panose="02020603050405020304" pitchFamily="18" charset="0"/>
                <a:cs typeface="Times New Roman" panose="02020603050405020304" pitchFamily="18" charset="0"/>
              </a:rPr>
              <a:t> </a:t>
            </a:r>
            <a:r>
              <a:rPr lang="en-IN" b="0" dirty="0">
                <a:solidFill>
                  <a:srgbClr val="202124"/>
                </a:solidFill>
                <a:latin typeface="Times New Roman" panose="02020603050405020304" pitchFamily="18" charset="0"/>
                <a:cs typeface="Times New Roman" panose="02020603050405020304" pitchFamily="18" charset="0"/>
              </a:rPr>
              <a:t>with</a:t>
            </a:r>
            <a:r>
              <a:rPr lang="en-IN" b="0" spc="140" dirty="0">
                <a:solidFill>
                  <a:srgbClr val="202124"/>
                </a:solidFill>
                <a:latin typeface="Times New Roman" panose="02020603050405020304" pitchFamily="18" charset="0"/>
                <a:cs typeface="Times New Roman" panose="02020603050405020304" pitchFamily="18" charset="0"/>
              </a:rPr>
              <a:t> </a:t>
            </a:r>
            <a:r>
              <a:rPr lang="en-IN" b="0" spc="-10" dirty="0">
                <a:solidFill>
                  <a:srgbClr val="202124"/>
                </a:solidFill>
                <a:latin typeface="Times New Roman" panose="02020603050405020304" pitchFamily="18" charset="0"/>
                <a:cs typeface="Times New Roman" panose="02020603050405020304" pitchFamily="18" charset="0"/>
              </a:rPr>
              <a:t>precision. </a:t>
            </a:r>
          </a:p>
          <a:p>
            <a:pPr marL="324485" marR="5080" algn="just">
              <a:lnSpc>
                <a:spcPct val="101400"/>
              </a:lnSpc>
            </a:pPr>
            <a:r>
              <a:rPr lang="en-IN" b="0" dirty="0">
                <a:solidFill>
                  <a:srgbClr val="202124"/>
                </a:solidFill>
                <a:latin typeface="Times New Roman" panose="02020603050405020304" pitchFamily="18" charset="0"/>
                <a:cs typeface="Times New Roman" panose="02020603050405020304" pitchFamily="18" charset="0"/>
              </a:rPr>
              <a:t>         b. Simultaneously</a:t>
            </a:r>
            <a:r>
              <a:rPr lang="en-IN" b="0" spc="85" dirty="0">
                <a:solidFill>
                  <a:srgbClr val="202124"/>
                </a:solidFill>
                <a:latin typeface="Times New Roman" panose="02020603050405020304" pitchFamily="18" charset="0"/>
                <a:cs typeface="Times New Roman" panose="02020603050405020304" pitchFamily="18" charset="0"/>
              </a:rPr>
              <a:t> </a:t>
            </a:r>
            <a:r>
              <a:rPr lang="en-IN" b="0" dirty="0">
                <a:solidFill>
                  <a:srgbClr val="202124"/>
                </a:solidFill>
                <a:latin typeface="Times New Roman" panose="02020603050405020304" pitchFamily="18" charset="0"/>
                <a:cs typeface="Times New Roman" panose="02020603050405020304" pitchFamily="18" charset="0"/>
              </a:rPr>
              <a:t>design</a:t>
            </a:r>
            <a:r>
              <a:rPr lang="en-IN" b="0" spc="85" dirty="0">
                <a:solidFill>
                  <a:srgbClr val="202124"/>
                </a:solidFill>
                <a:latin typeface="Times New Roman" panose="02020603050405020304" pitchFamily="18" charset="0"/>
                <a:cs typeface="Times New Roman" panose="02020603050405020304" pitchFamily="18" charset="0"/>
              </a:rPr>
              <a:t> </a:t>
            </a:r>
            <a:r>
              <a:rPr lang="en-IN" b="0" dirty="0">
                <a:solidFill>
                  <a:srgbClr val="202124"/>
                </a:solidFill>
                <a:latin typeface="Times New Roman" panose="02020603050405020304" pitchFamily="18" charset="0"/>
                <a:cs typeface="Times New Roman" panose="02020603050405020304" pitchFamily="18" charset="0"/>
              </a:rPr>
              <a:t>flowcharts</a:t>
            </a:r>
            <a:r>
              <a:rPr lang="en-IN" b="0" spc="90" dirty="0">
                <a:solidFill>
                  <a:srgbClr val="202124"/>
                </a:solidFill>
                <a:latin typeface="Times New Roman" panose="02020603050405020304" pitchFamily="18" charset="0"/>
                <a:cs typeface="Times New Roman" panose="02020603050405020304" pitchFamily="18" charset="0"/>
              </a:rPr>
              <a:t> </a:t>
            </a:r>
            <a:r>
              <a:rPr lang="en-IN" b="0" dirty="0">
                <a:solidFill>
                  <a:srgbClr val="202124"/>
                </a:solidFill>
                <a:latin typeface="Times New Roman" panose="02020603050405020304" pitchFamily="18" charset="0"/>
                <a:cs typeface="Times New Roman" panose="02020603050405020304" pitchFamily="18" charset="0"/>
              </a:rPr>
              <a:t>from</a:t>
            </a:r>
            <a:r>
              <a:rPr lang="en-IN" b="0" spc="85" dirty="0">
                <a:solidFill>
                  <a:srgbClr val="202124"/>
                </a:solidFill>
                <a:latin typeface="Times New Roman" panose="02020603050405020304" pitchFamily="18" charset="0"/>
                <a:cs typeface="Times New Roman" panose="02020603050405020304" pitchFamily="18" charset="0"/>
              </a:rPr>
              <a:t> </a:t>
            </a:r>
            <a:r>
              <a:rPr lang="en-IN" b="0" spc="-10" dirty="0">
                <a:solidFill>
                  <a:srgbClr val="202124"/>
                </a:solidFill>
                <a:latin typeface="Times New Roman" panose="02020603050405020304" pitchFamily="18" charset="0"/>
                <a:cs typeface="Times New Roman" panose="02020603050405020304" pitchFamily="18" charset="0"/>
              </a:rPr>
              <a:t>pseudocode.</a:t>
            </a:r>
            <a:endParaRPr lang="en-IN" b="0" dirty="0">
              <a:latin typeface="Times New Roman" panose="02020603050405020304" pitchFamily="18" charset="0"/>
              <a:cs typeface="Times New Roman" panose="02020603050405020304" pitchFamily="18" charset="0"/>
            </a:endParaRPr>
          </a:p>
          <a:p>
            <a:pPr marL="243204" marR="821055" algn="just">
              <a:lnSpc>
                <a:spcPct val="101400"/>
              </a:lnSpc>
            </a:pPr>
            <a:r>
              <a:rPr lang="en-IN" b="0" spc="-10" dirty="0">
                <a:solidFill>
                  <a:srgbClr val="202124"/>
                </a:solidFill>
                <a:latin typeface="Times New Roman" panose="02020603050405020304" pitchFamily="18" charset="0"/>
                <a:cs typeface="Times New Roman" panose="02020603050405020304" pitchFamily="18" charset="0"/>
              </a:rPr>
              <a:t>          c.  Enhance</a:t>
            </a:r>
            <a:r>
              <a:rPr lang="en-IN" b="0" spc="35" dirty="0">
                <a:solidFill>
                  <a:srgbClr val="202124"/>
                </a:solidFill>
                <a:latin typeface="Times New Roman" panose="02020603050405020304" pitchFamily="18" charset="0"/>
                <a:cs typeface="Times New Roman" panose="02020603050405020304" pitchFamily="18" charset="0"/>
              </a:rPr>
              <a:t> </a:t>
            </a:r>
            <a:r>
              <a:rPr lang="en-IN" b="0" dirty="0">
                <a:solidFill>
                  <a:srgbClr val="202124"/>
                </a:solidFill>
                <a:latin typeface="Times New Roman" panose="02020603050405020304" pitchFamily="18" charset="0"/>
                <a:cs typeface="Times New Roman" panose="02020603050405020304" pitchFamily="18" charset="0"/>
              </a:rPr>
              <a:t>coding</a:t>
            </a:r>
            <a:r>
              <a:rPr lang="en-IN" b="0" spc="35" dirty="0">
                <a:solidFill>
                  <a:srgbClr val="202124"/>
                </a:solidFill>
                <a:latin typeface="Times New Roman" panose="02020603050405020304" pitchFamily="18" charset="0"/>
                <a:cs typeface="Times New Roman" panose="02020603050405020304" pitchFamily="18" charset="0"/>
              </a:rPr>
              <a:t> </a:t>
            </a:r>
            <a:r>
              <a:rPr lang="en-IN" b="0" dirty="0">
                <a:solidFill>
                  <a:srgbClr val="202124"/>
                </a:solidFill>
                <a:latin typeface="Times New Roman" panose="02020603050405020304" pitchFamily="18" charset="0"/>
                <a:cs typeface="Times New Roman" panose="02020603050405020304" pitchFamily="18" charset="0"/>
              </a:rPr>
              <a:t>efficiency</a:t>
            </a:r>
            <a:r>
              <a:rPr lang="en-IN" b="0" spc="40" dirty="0">
                <a:solidFill>
                  <a:srgbClr val="202124"/>
                </a:solidFill>
                <a:latin typeface="Times New Roman" panose="02020603050405020304" pitchFamily="18" charset="0"/>
                <a:cs typeface="Times New Roman" panose="02020603050405020304" pitchFamily="18" charset="0"/>
              </a:rPr>
              <a:t> </a:t>
            </a:r>
            <a:r>
              <a:rPr lang="en-IN" b="0" dirty="0">
                <a:solidFill>
                  <a:srgbClr val="202124"/>
                </a:solidFill>
                <a:latin typeface="Times New Roman" panose="02020603050405020304" pitchFamily="18" charset="0"/>
                <a:cs typeface="Times New Roman" panose="02020603050405020304" pitchFamily="18" charset="0"/>
              </a:rPr>
              <a:t>and</a:t>
            </a:r>
            <a:r>
              <a:rPr lang="en-IN" b="0" spc="35" dirty="0">
                <a:solidFill>
                  <a:srgbClr val="202124"/>
                </a:solidFill>
                <a:latin typeface="Times New Roman" panose="02020603050405020304" pitchFamily="18" charset="0"/>
                <a:cs typeface="Times New Roman" panose="02020603050405020304" pitchFamily="18" charset="0"/>
              </a:rPr>
              <a:t> </a:t>
            </a:r>
            <a:r>
              <a:rPr lang="en-IN" b="0" dirty="0">
                <a:solidFill>
                  <a:srgbClr val="202124"/>
                </a:solidFill>
                <a:latin typeface="Times New Roman" panose="02020603050405020304" pitchFamily="18" charset="0"/>
                <a:cs typeface="Times New Roman" panose="02020603050405020304" pitchFamily="18" charset="0"/>
              </a:rPr>
              <a:t>visual</a:t>
            </a:r>
            <a:r>
              <a:rPr lang="en-IN" b="0" spc="40" dirty="0">
                <a:solidFill>
                  <a:srgbClr val="202124"/>
                </a:solidFill>
                <a:latin typeface="Times New Roman" panose="02020603050405020304" pitchFamily="18" charset="0"/>
                <a:cs typeface="Times New Roman" panose="02020603050405020304" pitchFamily="18" charset="0"/>
              </a:rPr>
              <a:t> </a:t>
            </a:r>
            <a:r>
              <a:rPr lang="en-IN" b="0" spc="-10" dirty="0">
                <a:solidFill>
                  <a:srgbClr val="202124"/>
                </a:solidFill>
                <a:latin typeface="Times New Roman" panose="02020603050405020304" pitchFamily="18" charset="0"/>
                <a:cs typeface="Times New Roman" panose="02020603050405020304" pitchFamily="18" charset="0"/>
              </a:rPr>
              <a:t>clarity.</a:t>
            </a:r>
          </a:p>
          <a:p>
            <a:pPr marL="243204" marR="821055" algn="just">
              <a:lnSpc>
                <a:spcPct val="101400"/>
              </a:lnSpc>
            </a:pPr>
            <a:r>
              <a:rPr lang="en-IN" b="0" spc="-10" dirty="0">
                <a:solidFill>
                  <a:srgbClr val="202124"/>
                </a:solidFill>
                <a:latin typeface="Times New Roman" panose="02020603050405020304" pitchFamily="18" charset="0"/>
                <a:cs typeface="Times New Roman" panose="02020603050405020304" pitchFamily="18" charset="0"/>
              </a:rPr>
              <a:t>          d. </a:t>
            </a:r>
            <a:r>
              <a:rPr lang="en-IN" b="0" dirty="0">
                <a:solidFill>
                  <a:srgbClr val="202124"/>
                </a:solidFill>
                <a:latin typeface="Times New Roman" panose="02020603050405020304" pitchFamily="18" charset="0"/>
                <a:cs typeface="Times New Roman" panose="02020603050405020304" pitchFamily="18" charset="0"/>
              </a:rPr>
              <a:t>Streamline</a:t>
            </a:r>
            <a:r>
              <a:rPr lang="en-IN" b="0" spc="50" dirty="0">
                <a:solidFill>
                  <a:srgbClr val="202124"/>
                </a:solidFill>
                <a:latin typeface="Times New Roman" panose="02020603050405020304" pitchFamily="18" charset="0"/>
                <a:cs typeface="Times New Roman" panose="02020603050405020304" pitchFamily="18" charset="0"/>
              </a:rPr>
              <a:t> </a:t>
            </a:r>
            <a:r>
              <a:rPr lang="en-IN" b="0" dirty="0">
                <a:solidFill>
                  <a:srgbClr val="202124"/>
                </a:solidFill>
                <a:latin typeface="Times New Roman" panose="02020603050405020304" pitchFamily="18" charset="0"/>
                <a:cs typeface="Times New Roman" panose="02020603050405020304" pitchFamily="18" charset="0"/>
              </a:rPr>
              <a:t>development</a:t>
            </a:r>
            <a:r>
              <a:rPr lang="en-IN" b="0" spc="50" dirty="0">
                <a:solidFill>
                  <a:srgbClr val="202124"/>
                </a:solidFill>
                <a:latin typeface="Times New Roman" panose="02020603050405020304" pitchFamily="18" charset="0"/>
                <a:cs typeface="Times New Roman" panose="02020603050405020304" pitchFamily="18" charset="0"/>
              </a:rPr>
              <a:t> </a:t>
            </a:r>
            <a:r>
              <a:rPr lang="en-IN" b="0" dirty="0">
                <a:solidFill>
                  <a:srgbClr val="202124"/>
                </a:solidFill>
                <a:latin typeface="Times New Roman" panose="02020603050405020304" pitchFamily="18" charset="0"/>
                <a:cs typeface="Times New Roman" panose="02020603050405020304" pitchFamily="18" charset="0"/>
              </a:rPr>
              <a:t>through</a:t>
            </a:r>
            <a:r>
              <a:rPr lang="en-IN" b="0" spc="55" dirty="0">
                <a:solidFill>
                  <a:srgbClr val="202124"/>
                </a:solidFill>
                <a:latin typeface="Times New Roman" panose="02020603050405020304" pitchFamily="18" charset="0"/>
                <a:cs typeface="Times New Roman" panose="02020603050405020304" pitchFamily="18" charset="0"/>
              </a:rPr>
              <a:t> </a:t>
            </a:r>
            <a:r>
              <a:rPr lang="en-IN" b="0" dirty="0">
                <a:solidFill>
                  <a:srgbClr val="202124"/>
                </a:solidFill>
                <a:latin typeface="Times New Roman" panose="02020603050405020304" pitchFamily="18" charset="0"/>
                <a:cs typeface="Times New Roman" panose="02020603050405020304" pitchFamily="18" charset="0"/>
              </a:rPr>
              <a:t>accurate</a:t>
            </a:r>
            <a:r>
              <a:rPr lang="en-IN" b="0" spc="50" dirty="0">
                <a:solidFill>
                  <a:srgbClr val="202124"/>
                </a:solidFill>
                <a:latin typeface="Times New Roman" panose="02020603050405020304" pitchFamily="18" charset="0"/>
                <a:cs typeface="Times New Roman" panose="02020603050405020304" pitchFamily="18" charset="0"/>
              </a:rPr>
              <a:t> </a:t>
            </a:r>
            <a:r>
              <a:rPr lang="en-IN" b="0" spc="-20" dirty="0">
                <a:solidFill>
                  <a:srgbClr val="202124"/>
                </a:solidFill>
                <a:latin typeface="Times New Roman" panose="02020603050405020304" pitchFamily="18" charset="0"/>
                <a:cs typeface="Times New Roman" panose="02020603050405020304" pitchFamily="18" charset="0"/>
              </a:rPr>
              <a:t>code </a:t>
            </a:r>
            <a:r>
              <a:rPr lang="en-IN" b="0" spc="-10" dirty="0">
                <a:solidFill>
                  <a:srgbClr val="202124"/>
                </a:solidFill>
                <a:latin typeface="Times New Roman" panose="02020603050405020304" pitchFamily="18" charset="0"/>
                <a:cs typeface="Times New Roman" panose="02020603050405020304" pitchFamily="18" charset="0"/>
              </a:rPr>
              <a:t>generation.</a:t>
            </a:r>
            <a:endParaRPr lang="en-IN" b="0" dirty="0">
              <a:latin typeface="Times New Roman" panose="02020603050405020304" pitchFamily="18" charset="0"/>
              <a:cs typeface="Times New Roman" panose="02020603050405020304" pitchFamily="18" charset="0"/>
            </a:endParaRPr>
          </a:p>
          <a:p>
            <a:pPr marL="247650">
              <a:lnSpc>
                <a:spcPct val="100000"/>
              </a:lnSpc>
              <a:spcBef>
                <a:spcPts val="100"/>
              </a:spcBef>
            </a:pPr>
            <a:endParaRPr sz="1800" dirty="0">
              <a:latin typeface="Arial MT"/>
              <a:cs typeface="Arial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DB19C-877F-A312-9D18-91ADFBCDD967}"/>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F4AF498B-16B9-A900-370A-BCAB3D3C9CD9}"/>
              </a:ext>
            </a:extLst>
          </p:cNvPr>
          <p:cNvPicPr/>
          <p:nvPr/>
        </p:nvPicPr>
        <p:blipFill>
          <a:blip r:embed="rId2" cstate="print"/>
          <a:stretch>
            <a:fillRect/>
          </a:stretch>
        </p:blipFill>
        <p:spPr>
          <a:xfrm>
            <a:off x="350875" y="19000"/>
            <a:ext cx="8665550" cy="839799"/>
          </a:xfrm>
          <a:prstGeom prst="rect">
            <a:avLst/>
          </a:prstGeom>
        </p:spPr>
      </p:pic>
      <p:sp>
        <p:nvSpPr>
          <p:cNvPr id="3" name="object 3">
            <a:extLst>
              <a:ext uri="{FF2B5EF4-FFF2-40B4-BE49-F238E27FC236}">
                <a16:creationId xmlns:a16="http://schemas.microsoft.com/office/drawing/2014/main" id="{9BC2B085-7BBF-F3C8-3F63-7D254FA24A0F}"/>
              </a:ext>
            </a:extLst>
          </p:cNvPr>
          <p:cNvSpPr txBox="1">
            <a:spLocks noGrp="1"/>
          </p:cNvSpPr>
          <p:nvPr>
            <p:ph type="title"/>
          </p:nvPr>
        </p:nvSpPr>
        <p:spPr>
          <a:xfrm>
            <a:off x="1433258" y="1332128"/>
            <a:ext cx="6276433" cy="663002"/>
          </a:xfrm>
          <a:prstGeom prst="rect">
            <a:avLst/>
          </a:prstGeom>
        </p:spPr>
        <p:txBody>
          <a:bodyPr vert="horz" wrap="square" lIns="0" tIns="16510" rIns="0" bIns="0" rtlCol="0">
            <a:spAutoFit/>
          </a:bodyPr>
          <a:lstStyle/>
          <a:p>
            <a:pPr marL="12700">
              <a:lnSpc>
                <a:spcPct val="100000"/>
              </a:lnSpc>
              <a:spcBef>
                <a:spcPts val="130"/>
              </a:spcBef>
            </a:pPr>
            <a:r>
              <a:rPr lang="en-US" spc="-10" dirty="0"/>
              <a:t>PROBLEM STATEMENT</a:t>
            </a:r>
            <a:endParaRPr spc="-10" dirty="0"/>
          </a:p>
        </p:txBody>
      </p:sp>
      <p:sp>
        <p:nvSpPr>
          <p:cNvPr id="5" name="object 5">
            <a:extLst>
              <a:ext uri="{FF2B5EF4-FFF2-40B4-BE49-F238E27FC236}">
                <a16:creationId xmlns:a16="http://schemas.microsoft.com/office/drawing/2014/main" id="{0ECC9FA9-7E73-67E5-FC69-FCB30239103E}"/>
              </a:ext>
            </a:extLst>
          </p:cNvPr>
          <p:cNvSpPr txBox="1">
            <a:spLocks noGrp="1"/>
          </p:cNvSpPr>
          <p:nvPr>
            <p:ph type="dt" sz="half" idx="6"/>
          </p:nvPr>
        </p:nvSpPr>
        <p:spPr>
          <a:xfrm>
            <a:off x="530225" y="6466776"/>
            <a:ext cx="760094" cy="156068"/>
          </a:xfrm>
          <a:prstGeom prst="rect">
            <a:avLst/>
          </a:prstGeom>
        </p:spPr>
        <p:txBody>
          <a:bodyPr vert="horz" wrap="square" lIns="0" tIns="0" rIns="0" bIns="0" rtlCol="0">
            <a:spAutoFit/>
          </a:bodyPr>
          <a:lstStyle/>
          <a:p>
            <a:pPr marL="12700">
              <a:lnSpc>
                <a:spcPts val="1240"/>
              </a:lnSpc>
            </a:pPr>
            <a:r>
              <a:rPr spc="-10" dirty="0"/>
              <a:t>10/1</a:t>
            </a:r>
            <a:r>
              <a:rPr lang="en-US" spc="-10" dirty="0"/>
              <a:t>9</a:t>
            </a:r>
            <a:r>
              <a:rPr spc="-10" dirty="0"/>
              <a:t>/2024</a:t>
            </a:r>
          </a:p>
        </p:txBody>
      </p:sp>
      <p:sp>
        <p:nvSpPr>
          <p:cNvPr id="6" name="object 6">
            <a:extLst>
              <a:ext uri="{FF2B5EF4-FFF2-40B4-BE49-F238E27FC236}">
                <a16:creationId xmlns:a16="http://schemas.microsoft.com/office/drawing/2014/main" id="{16960CE1-56BA-6973-8577-08A101D080D9}"/>
              </a:ext>
            </a:extLst>
          </p:cNvPr>
          <p:cNvSpPr txBox="1">
            <a:spLocks noGrp="1"/>
          </p:cNvSpPr>
          <p:nvPr>
            <p:ph type="ftr" sz="quarter" idx="5"/>
          </p:nvPr>
        </p:nvSpPr>
        <p:spPr>
          <a:xfrm>
            <a:off x="4197461" y="6466776"/>
            <a:ext cx="748029" cy="156068"/>
          </a:xfrm>
          <a:prstGeom prst="rect">
            <a:avLst/>
          </a:prstGeom>
        </p:spPr>
        <p:txBody>
          <a:bodyPr vert="horz" wrap="square" lIns="0" tIns="0" rIns="0" bIns="0" rtlCol="0">
            <a:spAutoFit/>
          </a:bodyPr>
          <a:lstStyle/>
          <a:p>
            <a:pPr marL="12700">
              <a:lnSpc>
                <a:spcPts val="1240"/>
              </a:lnSpc>
            </a:pPr>
            <a:r>
              <a:rPr lang="en-US" spc="-10" dirty="0" err="1"/>
              <a:t>FlowFusion</a:t>
            </a:r>
            <a:endParaRPr spc="-10" dirty="0"/>
          </a:p>
        </p:txBody>
      </p:sp>
      <p:sp>
        <p:nvSpPr>
          <p:cNvPr id="7" name="object 7">
            <a:extLst>
              <a:ext uri="{FF2B5EF4-FFF2-40B4-BE49-F238E27FC236}">
                <a16:creationId xmlns:a16="http://schemas.microsoft.com/office/drawing/2014/main" id="{0642F0D3-A5DA-F279-F8E6-84717F920336}"/>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4</a:t>
            </a:fld>
            <a:endParaRPr spc="-50" dirty="0"/>
          </a:p>
        </p:txBody>
      </p:sp>
      <p:sp>
        <p:nvSpPr>
          <p:cNvPr id="4" name="object 4">
            <a:extLst>
              <a:ext uri="{FF2B5EF4-FFF2-40B4-BE49-F238E27FC236}">
                <a16:creationId xmlns:a16="http://schemas.microsoft.com/office/drawing/2014/main" id="{806CD74E-ECCE-D6D3-D7DF-C60A96B96033}"/>
              </a:ext>
            </a:extLst>
          </p:cNvPr>
          <p:cNvSpPr txBox="1">
            <a:spLocks noGrp="1"/>
          </p:cNvSpPr>
          <p:nvPr>
            <p:ph type="body" idx="1"/>
          </p:nvPr>
        </p:nvSpPr>
        <p:spPr>
          <a:xfrm>
            <a:off x="152400" y="2278610"/>
            <a:ext cx="8864025" cy="3942105"/>
          </a:xfrm>
          <a:prstGeom prst="rect">
            <a:avLst/>
          </a:prstGeom>
        </p:spPr>
        <p:txBody>
          <a:bodyPr vert="horz" wrap="square" lIns="0" tIns="12700" rIns="0" bIns="0" rtlCol="0">
            <a:spAutoFit/>
          </a:bodyPr>
          <a:lstStyle/>
          <a:p>
            <a:pPr marL="247650">
              <a:lnSpc>
                <a:spcPct val="100000"/>
              </a:lnSpc>
              <a:spcBef>
                <a:spcPts val="100"/>
              </a:spcBef>
            </a:pPr>
            <a:endParaRPr lang="en-US" sz="1800" dirty="0">
              <a:latin typeface="Arial MT"/>
              <a:cs typeface="Arial MT"/>
            </a:endParaRPr>
          </a:p>
          <a:p>
            <a:pPr marL="247650" algn="just">
              <a:lnSpc>
                <a:spcPct val="100000"/>
              </a:lnSpc>
              <a:spcBef>
                <a:spcPts val="100"/>
              </a:spcBef>
            </a:pPr>
            <a:r>
              <a:rPr lang="en-US" sz="2000" b="0" dirty="0">
                <a:latin typeface="Times New Roman" panose="02020603050405020304" pitchFamily="18" charset="0"/>
                <a:cs typeface="Times New Roman" panose="02020603050405020304" pitchFamily="18" charset="0"/>
              </a:rPr>
              <a:t>Developers often face challenges in manually translating pseudocode into Python, which can lead to errors, inefficiency, and lack of clarity. Additionally, creating accurate flowcharts to represent the logic of the code is time-consuming and prone to misinterpretation. The need for a solution that automates both processes—accurately converting pseudocode into Python code and generating precise, visual flowcharts—remains crucial for improving coding precision and enhancing productivity. </a:t>
            </a:r>
            <a:r>
              <a:rPr lang="en-US" sz="2000" dirty="0" err="1">
                <a:latin typeface="Times New Roman" panose="02020603050405020304" pitchFamily="18" charset="0"/>
                <a:cs typeface="Times New Roman" panose="02020603050405020304" pitchFamily="18" charset="0"/>
              </a:rPr>
              <a:t>FlowFusion</a:t>
            </a:r>
            <a:r>
              <a:rPr lang="en-US" sz="2000" b="0" dirty="0">
                <a:latin typeface="Times New Roman" panose="02020603050405020304" pitchFamily="18" charset="0"/>
                <a:cs typeface="Times New Roman" panose="02020603050405020304" pitchFamily="18" charset="0"/>
              </a:rPr>
              <a:t> addresses this by providing an integrated tool that ensures error-free code conversion, coupled with automated flowchart generation, improving overall workflow and code comprehension.</a:t>
            </a:r>
            <a:endParaRPr lang="en-IN" sz="2000" b="0" dirty="0">
              <a:latin typeface="Times New Roman" panose="02020603050405020304" pitchFamily="18" charset="0"/>
              <a:cs typeface="Times New Roman" panose="02020603050405020304" pitchFamily="18" charset="0"/>
            </a:endParaRPr>
          </a:p>
          <a:p>
            <a:pPr marL="247650">
              <a:lnSpc>
                <a:spcPct val="100000"/>
              </a:lnSpc>
              <a:spcBef>
                <a:spcPts val="100"/>
              </a:spcBef>
            </a:pPr>
            <a:endParaRPr lang="en-IN" sz="1800" dirty="0">
              <a:latin typeface="Arial MT"/>
              <a:cs typeface="Arial MT"/>
            </a:endParaRPr>
          </a:p>
          <a:p>
            <a:pPr marL="247650">
              <a:lnSpc>
                <a:spcPct val="100000"/>
              </a:lnSpc>
              <a:spcBef>
                <a:spcPts val="100"/>
              </a:spcBef>
            </a:pPr>
            <a:endParaRPr lang="en-IN" sz="1800" dirty="0">
              <a:latin typeface="Arial MT"/>
              <a:cs typeface="Arial MT"/>
            </a:endParaRPr>
          </a:p>
          <a:p>
            <a:pPr marL="247650">
              <a:lnSpc>
                <a:spcPct val="100000"/>
              </a:lnSpc>
              <a:spcBef>
                <a:spcPts val="100"/>
              </a:spcBef>
            </a:pPr>
            <a:endParaRPr sz="1800" dirty="0">
              <a:latin typeface="Arial MT"/>
              <a:cs typeface="Arial MT"/>
            </a:endParaRPr>
          </a:p>
        </p:txBody>
      </p:sp>
    </p:spTree>
    <p:extLst>
      <p:ext uri="{BB962C8B-B14F-4D97-AF65-F5344CB8AC3E}">
        <p14:creationId xmlns:p14="http://schemas.microsoft.com/office/powerpoint/2010/main" val="2528474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76FB0-0665-A67C-6812-090118A8DC58}"/>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C422CCBE-68D2-CFD1-15BD-BD01DD237752}"/>
              </a:ext>
            </a:extLst>
          </p:cNvPr>
          <p:cNvPicPr/>
          <p:nvPr/>
        </p:nvPicPr>
        <p:blipFill>
          <a:blip r:embed="rId2" cstate="print"/>
          <a:stretch>
            <a:fillRect/>
          </a:stretch>
        </p:blipFill>
        <p:spPr>
          <a:xfrm>
            <a:off x="350875" y="19000"/>
            <a:ext cx="8665550" cy="839799"/>
          </a:xfrm>
          <a:prstGeom prst="rect">
            <a:avLst/>
          </a:prstGeom>
        </p:spPr>
      </p:pic>
      <p:sp>
        <p:nvSpPr>
          <p:cNvPr id="3" name="object 3">
            <a:extLst>
              <a:ext uri="{FF2B5EF4-FFF2-40B4-BE49-F238E27FC236}">
                <a16:creationId xmlns:a16="http://schemas.microsoft.com/office/drawing/2014/main" id="{615FE123-C9D9-3E25-DA62-6F832BC983D9}"/>
              </a:ext>
            </a:extLst>
          </p:cNvPr>
          <p:cNvSpPr txBox="1">
            <a:spLocks noGrp="1"/>
          </p:cNvSpPr>
          <p:nvPr>
            <p:ph type="title"/>
          </p:nvPr>
        </p:nvSpPr>
        <p:spPr>
          <a:xfrm>
            <a:off x="1676400" y="1374170"/>
            <a:ext cx="5714999" cy="663002"/>
          </a:xfrm>
          <a:prstGeom prst="rect">
            <a:avLst/>
          </a:prstGeom>
        </p:spPr>
        <p:txBody>
          <a:bodyPr vert="horz" wrap="square" lIns="0" tIns="16510" rIns="0" bIns="0" rtlCol="0">
            <a:spAutoFit/>
          </a:bodyPr>
          <a:lstStyle/>
          <a:p>
            <a:pPr marL="12700">
              <a:lnSpc>
                <a:spcPct val="100000"/>
              </a:lnSpc>
              <a:spcBef>
                <a:spcPts val="130"/>
              </a:spcBef>
            </a:pPr>
            <a:r>
              <a:rPr lang="en-US" spc="-10" dirty="0"/>
              <a:t>  AIM &amp; OBJECTIVES</a:t>
            </a:r>
            <a:endParaRPr spc="-10" dirty="0"/>
          </a:p>
        </p:txBody>
      </p:sp>
      <p:sp>
        <p:nvSpPr>
          <p:cNvPr id="5" name="object 5">
            <a:extLst>
              <a:ext uri="{FF2B5EF4-FFF2-40B4-BE49-F238E27FC236}">
                <a16:creationId xmlns:a16="http://schemas.microsoft.com/office/drawing/2014/main" id="{2ABC807B-DDE8-29B7-124C-768ED0BD3BC7}"/>
              </a:ext>
            </a:extLst>
          </p:cNvPr>
          <p:cNvSpPr txBox="1">
            <a:spLocks noGrp="1"/>
          </p:cNvSpPr>
          <p:nvPr>
            <p:ph type="dt" sz="half" idx="6"/>
          </p:nvPr>
        </p:nvSpPr>
        <p:spPr>
          <a:xfrm>
            <a:off x="530225" y="6466776"/>
            <a:ext cx="760094" cy="156068"/>
          </a:xfrm>
          <a:prstGeom prst="rect">
            <a:avLst/>
          </a:prstGeom>
        </p:spPr>
        <p:txBody>
          <a:bodyPr vert="horz" wrap="square" lIns="0" tIns="0" rIns="0" bIns="0" rtlCol="0">
            <a:spAutoFit/>
          </a:bodyPr>
          <a:lstStyle/>
          <a:p>
            <a:pPr marL="12700">
              <a:lnSpc>
                <a:spcPts val="1240"/>
              </a:lnSpc>
            </a:pPr>
            <a:r>
              <a:rPr spc="-10" dirty="0"/>
              <a:t>10/1</a:t>
            </a:r>
            <a:r>
              <a:rPr lang="en-US" spc="-10" dirty="0"/>
              <a:t>9</a:t>
            </a:r>
            <a:r>
              <a:rPr spc="-10" dirty="0"/>
              <a:t>/2024</a:t>
            </a:r>
          </a:p>
        </p:txBody>
      </p:sp>
      <p:sp>
        <p:nvSpPr>
          <p:cNvPr id="6" name="object 6">
            <a:extLst>
              <a:ext uri="{FF2B5EF4-FFF2-40B4-BE49-F238E27FC236}">
                <a16:creationId xmlns:a16="http://schemas.microsoft.com/office/drawing/2014/main" id="{48EB5723-5C7F-04BD-6F04-A4EE5D2A500F}"/>
              </a:ext>
            </a:extLst>
          </p:cNvPr>
          <p:cNvSpPr txBox="1">
            <a:spLocks noGrp="1"/>
          </p:cNvSpPr>
          <p:nvPr>
            <p:ph type="ftr" sz="quarter" idx="5"/>
          </p:nvPr>
        </p:nvSpPr>
        <p:spPr>
          <a:xfrm>
            <a:off x="4197461" y="6466776"/>
            <a:ext cx="748029" cy="156068"/>
          </a:xfrm>
          <a:prstGeom prst="rect">
            <a:avLst/>
          </a:prstGeom>
        </p:spPr>
        <p:txBody>
          <a:bodyPr vert="horz" wrap="square" lIns="0" tIns="0" rIns="0" bIns="0" rtlCol="0">
            <a:spAutoFit/>
          </a:bodyPr>
          <a:lstStyle/>
          <a:p>
            <a:pPr marL="12700">
              <a:lnSpc>
                <a:spcPts val="1240"/>
              </a:lnSpc>
            </a:pPr>
            <a:r>
              <a:rPr lang="en-US" spc="-10" dirty="0" err="1"/>
              <a:t>FlowFusion</a:t>
            </a:r>
            <a:endParaRPr spc="-10" dirty="0"/>
          </a:p>
        </p:txBody>
      </p:sp>
      <p:sp>
        <p:nvSpPr>
          <p:cNvPr id="7" name="object 7">
            <a:extLst>
              <a:ext uri="{FF2B5EF4-FFF2-40B4-BE49-F238E27FC236}">
                <a16:creationId xmlns:a16="http://schemas.microsoft.com/office/drawing/2014/main" id="{C6D1A8D7-BBE8-0D07-FE10-F148AF2E7B51}"/>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5</a:t>
            </a:fld>
            <a:endParaRPr spc="-50" dirty="0"/>
          </a:p>
        </p:txBody>
      </p:sp>
      <p:sp>
        <p:nvSpPr>
          <p:cNvPr id="4" name="object 4">
            <a:extLst>
              <a:ext uri="{FF2B5EF4-FFF2-40B4-BE49-F238E27FC236}">
                <a16:creationId xmlns:a16="http://schemas.microsoft.com/office/drawing/2014/main" id="{56BAD848-7F8B-7530-43F7-46BA6FB1EFF3}"/>
              </a:ext>
            </a:extLst>
          </p:cNvPr>
          <p:cNvSpPr txBox="1">
            <a:spLocks noGrp="1"/>
          </p:cNvSpPr>
          <p:nvPr>
            <p:ph type="body" idx="1"/>
          </p:nvPr>
        </p:nvSpPr>
        <p:spPr>
          <a:xfrm>
            <a:off x="0" y="2278610"/>
            <a:ext cx="9016425" cy="4265270"/>
          </a:xfrm>
          <a:prstGeom prst="rect">
            <a:avLst/>
          </a:prstGeom>
        </p:spPr>
        <p:txBody>
          <a:bodyPr vert="horz" wrap="square" lIns="0" tIns="12700" rIns="0" bIns="0" rtlCol="0">
            <a:spAutoFit/>
          </a:bodyPr>
          <a:lstStyle/>
          <a:p>
            <a:pPr marL="247650" algn="ctr">
              <a:lnSpc>
                <a:spcPct val="100000"/>
              </a:lnSpc>
              <a:spcBef>
                <a:spcPts val="100"/>
              </a:spcBef>
            </a:pPr>
            <a:r>
              <a:rPr lang="en-US" dirty="0">
                <a:latin typeface="Times New Roman" panose="02020603050405020304" pitchFamily="18" charset="0"/>
                <a:cs typeface="Times New Roman" panose="02020603050405020304" pitchFamily="18" charset="0"/>
              </a:rPr>
              <a:t>Aim:</a:t>
            </a:r>
          </a:p>
          <a:p>
            <a:pPr marL="247650" algn="just">
              <a:lnSpc>
                <a:spcPct val="100000"/>
              </a:lnSpc>
              <a:spcBef>
                <a:spcPts val="100"/>
              </a:spcBef>
            </a:pPr>
            <a:r>
              <a:rPr lang="en-US" sz="2000" b="0" dirty="0">
                <a:latin typeface="Times New Roman" panose="02020603050405020304" pitchFamily="18" charset="0"/>
                <a:cs typeface="Times New Roman" panose="02020603050405020304" pitchFamily="18" charset="0"/>
              </a:rPr>
              <a:t>Efficiently  converts  pseudocode into  Python  code  while  simultaneously  designing</a:t>
            </a:r>
          </a:p>
          <a:p>
            <a:pPr marL="247650" algn="just">
              <a:lnSpc>
                <a:spcPct val="100000"/>
              </a:lnSpc>
              <a:spcBef>
                <a:spcPts val="100"/>
              </a:spcBef>
            </a:pPr>
            <a:r>
              <a:rPr lang="en-US" sz="2000" b="0" dirty="0">
                <a:latin typeface="Times New Roman" panose="02020603050405020304" pitchFamily="18" charset="0"/>
                <a:cs typeface="Times New Roman" panose="02020603050405020304" pitchFamily="18" charset="0"/>
              </a:rPr>
              <a:t>flowcharts for better visualization, enhancing coding precision and development productivity, and empowering users to code faster and with greater accuracy.</a:t>
            </a:r>
          </a:p>
          <a:p>
            <a:pPr marL="247650" algn="just">
              <a:lnSpc>
                <a:spcPct val="100000"/>
              </a:lnSpc>
              <a:spcBef>
                <a:spcPts val="100"/>
              </a:spcBef>
            </a:pPr>
            <a:endParaRPr lang="en-US" sz="2000" b="0" dirty="0">
              <a:latin typeface="Times New Roman" panose="02020603050405020304" pitchFamily="18" charset="0"/>
              <a:cs typeface="Times New Roman" panose="02020603050405020304" pitchFamily="18" charset="0"/>
            </a:endParaRPr>
          </a:p>
          <a:p>
            <a:pPr marL="247650" algn="ctr">
              <a:spcBef>
                <a:spcPts val="100"/>
              </a:spcBef>
            </a:pPr>
            <a:r>
              <a:rPr lang="en-US" dirty="0">
                <a:latin typeface="Times New Roman" panose="02020603050405020304" pitchFamily="18" charset="0"/>
                <a:cs typeface="Times New Roman" panose="02020603050405020304" pitchFamily="18" charset="0"/>
              </a:rPr>
              <a:t>   Objectives:</a:t>
            </a:r>
          </a:p>
          <a:p>
            <a:pPr marL="355600" marR="5080" indent="-342900">
              <a:lnSpc>
                <a:spcPct val="100000"/>
              </a:lnSpc>
              <a:spcBef>
                <a:spcPts val="100"/>
              </a:spcBef>
              <a:buFont typeface="Arial" panose="020B0604020202020204" pitchFamily="34" charset="0"/>
              <a:buChar char="•"/>
            </a:pPr>
            <a:r>
              <a:rPr lang="en-IN" sz="2000" b="0" dirty="0">
                <a:solidFill>
                  <a:srgbClr val="202124"/>
                </a:solidFill>
                <a:latin typeface="Times New Roman" panose="02020603050405020304" pitchFamily="18" charset="0"/>
                <a:cs typeface="Times New Roman" panose="02020603050405020304" pitchFamily="18" charset="0"/>
              </a:rPr>
              <a:t>Develop</a:t>
            </a:r>
            <a:r>
              <a:rPr lang="en-IN" sz="2000" b="0" spc="80" dirty="0">
                <a:solidFill>
                  <a:srgbClr val="202124"/>
                </a:solidFill>
                <a:latin typeface="Times New Roman" panose="02020603050405020304" pitchFamily="18" charset="0"/>
                <a:cs typeface="Times New Roman" panose="02020603050405020304" pitchFamily="18" charset="0"/>
              </a:rPr>
              <a:t> </a:t>
            </a:r>
            <a:r>
              <a:rPr lang="en-IN" sz="2000" b="0" dirty="0">
                <a:solidFill>
                  <a:srgbClr val="202124"/>
                </a:solidFill>
                <a:latin typeface="Times New Roman" panose="02020603050405020304" pitchFamily="18" charset="0"/>
                <a:cs typeface="Times New Roman" panose="02020603050405020304" pitchFamily="18" charset="0"/>
              </a:rPr>
              <a:t>a</a:t>
            </a:r>
            <a:r>
              <a:rPr lang="en-IN" sz="2000" b="0" spc="80" dirty="0">
                <a:solidFill>
                  <a:srgbClr val="202124"/>
                </a:solidFill>
                <a:latin typeface="Times New Roman" panose="02020603050405020304" pitchFamily="18" charset="0"/>
                <a:cs typeface="Times New Roman" panose="02020603050405020304" pitchFamily="18" charset="0"/>
              </a:rPr>
              <a:t> </a:t>
            </a:r>
            <a:r>
              <a:rPr lang="en-IN" sz="2000" b="0" spc="-40" dirty="0">
                <a:solidFill>
                  <a:srgbClr val="202124"/>
                </a:solidFill>
                <a:latin typeface="Times New Roman" panose="02020603050405020304" pitchFamily="18" charset="0"/>
                <a:cs typeface="Times New Roman" panose="02020603050405020304" pitchFamily="18" charset="0"/>
              </a:rPr>
              <a:t>user-</a:t>
            </a:r>
            <a:r>
              <a:rPr lang="en-IN" sz="2000" b="0" dirty="0">
                <a:solidFill>
                  <a:srgbClr val="202124"/>
                </a:solidFill>
                <a:latin typeface="Times New Roman" panose="02020603050405020304" pitchFamily="18" charset="0"/>
                <a:cs typeface="Times New Roman" panose="02020603050405020304" pitchFamily="18" charset="0"/>
              </a:rPr>
              <a:t>friendly</a:t>
            </a:r>
            <a:r>
              <a:rPr lang="en-IN" sz="2000" b="0" spc="80" dirty="0">
                <a:solidFill>
                  <a:srgbClr val="202124"/>
                </a:solidFill>
                <a:latin typeface="Times New Roman" panose="02020603050405020304" pitchFamily="18" charset="0"/>
                <a:cs typeface="Times New Roman" panose="02020603050405020304" pitchFamily="18" charset="0"/>
              </a:rPr>
              <a:t> </a:t>
            </a:r>
            <a:r>
              <a:rPr lang="en-IN" sz="2000" b="0" dirty="0">
                <a:solidFill>
                  <a:srgbClr val="202124"/>
                </a:solidFill>
                <a:latin typeface="Times New Roman" panose="02020603050405020304" pitchFamily="18" charset="0"/>
                <a:cs typeface="Times New Roman" panose="02020603050405020304" pitchFamily="18" charset="0"/>
              </a:rPr>
              <a:t>tool</a:t>
            </a:r>
            <a:r>
              <a:rPr lang="en-IN" sz="2000" b="0" spc="80" dirty="0">
                <a:solidFill>
                  <a:srgbClr val="202124"/>
                </a:solidFill>
                <a:latin typeface="Times New Roman" panose="02020603050405020304" pitchFamily="18" charset="0"/>
                <a:cs typeface="Times New Roman" panose="02020603050405020304" pitchFamily="18" charset="0"/>
              </a:rPr>
              <a:t> </a:t>
            </a:r>
            <a:r>
              <a:rPr lang="en-IN" sz="2000" b="0" dirty="0">
                <a:solidFill>
                  <a:srgbClr val="202124"/>
                </a:solidFill>
                <a:latin typeface="Times New Roman" panose="02020603050405020304" pitchFamily="18" charset="0"/>
                <a:cs typeface="Times New Roman" panose="02020603050405020304" pitchFamily="18" charset="0"/>
              </a:rPr>
              <a:t>for</a:t>
            </a:r>
            <a:r>
              <a:rPr lang="en-IN" sz="2000" b="0" spc="80" dirty="0">
                <a:solidFill>
                  <a:srgbClr val="202124"/>
                </a:solidFill>
                <a:latin typeface="Times New Roman" panose="02020603050405020304" pitchFamily="18" charset="0"/>
                <a:cs typeface="Times New Roman" panose="02020603050405020304" pitchFamily="18" charset="0"/>
              </a:rPr>
              <a:t> </a:t>
            </a:r>
            <a:r>
              <a:rPr lang="en-IN" sz="2000" b="0" dirty="0">
                <a:solidFill>
                  <a:srgbClr val="202124"/>
                </a:solidFill>
                <a:latin typeface="Times New Roman" panose="02020603050405020304" pitchFamily="18" charset="0"/>
                <a:cs typeface="Times New Roman" panose="02020603050405020304" pitchFamily="18" charset="0"/>
              </a:rPr>
              <a:t>converting</a:t>
            </a:r>
            <a:r>
              <a:rPr lang="en-IN" sz="2000" b="0" spc="80" dirty="0">
                <a:solidFill>
                  <a:srgbClr val="202124"/>
                </a:solidFill>
                <a:latin typeface="Times New Roman" panose="02020603050405020304" pitchFamily="18" charset="0"/>
                <a:cs typeface="Times New Roman" panose="02020603050405020304" pitchFamily="18" charset="0"/>
              </a:rPr>
              <a:t> </a:t>
            </a:r>
            <a:r>
              <a:rPr lang="en-IN" sz="2000" b="0" dirty="0">
                <a:solidFill>
                  <a:srgbClr val="202124"/>
                </a:solidFill>
                <a:latin typeface="Times New Roman" panose="02020603050405020304" pitchFamily="18" charset="0"/>
                <a:cs typeface="Times New Roman" panose="02020603050405020304" pitchFamily="18" charset="0"/>
              </a:rPr>
              <a:t>pseudocode</a:t>
            </a:r>
            <a:r>
              <a:rPr lang="en-IN" sz="2000" b="0" spc="80" dirty="0">
                <a:solidFill>
                  <a:srgbClr val="202124"/>
                </a:solidFill>
                <a:latin typeface="Times New Roman" panose="02020603050405020304" pitchFamily="18" charset="0"/>
                <a:cs typeface="Times New Roman" panose="02020603050405020304" pitchFamily="18" charset="0"/>
              </a:rPr>
              <a:t> </a:t>
            </a:r>
            <a:r>
              <a:rPr lang="en-IN" sz="2000" b="0" dirty="0">
                <a:solidFill>
                  <a:srgbClr val="202124"/>
                </a:solidFill>
                <a:latin typeface="Times New Roman" panose="02020603050405020304" pitchFamily="18" charset="0"/>
                <a:cs typeface="Times New Roman" panose="02020603050405020304" pitchFamily="18" charset="0"/>
              </a:rPr>
              <a:t>to</a:t>
            </a:r>
            <a:r>
              <a:rPr lang="en-IN" sz="2000" b="0" spc="80" dirty="0">
                <a:solidFill>
                  <a:srgbClr val="202124"/>
                </a:solidFill>
                <a:latin typeface="Times New Roman" panose="02020603050405020304" pitchFamily="18" charset="0"/>
                <a:cs typeface="Times New Roman" panose="02020603050405020304" pitchFamily="18" charset="0"/>
              </a:rPr>
              <a:t> </a:t>
            </a:r>
            <a:r>
              <a:rPr lang="en-IN" sz="2000" b="0" dirty="0">
                <a:solidFill>
                  <a:srgbClr val="202124"/>
                </a:solidFill>
                <a:latin typeface="Times New Roman" panose="02020603050405020304" pitchFamily="18" charset="0"/>
                <a:cs typeface="Times New Roman" panose="02020603050405020304" pitchFamily="18" charset="0"/>
              </a:rPr>
              <a:t>Python</a:t>
            </a:r>
            <a:r>
              <a:rPr lang="en-IN" sz="2000" b="0" spc="80" dirty="0">
                <a:solidFill>
                  <a:srgbClr val="202124"/>
                </a:solidFill>
                <a:latin typeface="Times New Roman" panose="02020603050405020304" pitchFamily="18" charset="0"/>
                <a:cs typeface="Times New Roman" panose="02020603050405020304" pitchFamily="18" charset="0"/>
              </a:rPr>
              <a:t> </a:t>
            </a:r>
            <a:r>
              <a:rPr lang="en-IN" sz="2000" b="0" spc="-10" dirty="0">
                <a:solidFill>
                  <a:srgbClr val="202124"/>
                </a:solidFill>
                <a:latin typeface="Times New Roman" panose="02020603050405020304" pitchFamily="18" charset="0"/>
                <a:cs typeface="Times New Roman" panose="02020603050405020304" pitchFamily="18" charset="0"/>
              </a:rPr>
              <a:t>code.</a:t>
            </a:r>
          </a:p>
          <a:p>
            <a:pPr marL="355600" marR="5080" indent="-342900">
              <a:lnSpc>
                <a:spcPct val="100000"/>
              </a:lnSpc>
              <a:spcBef>
                <a:spcPts val="100"/>
              </a:spcBef>
              <a:buFont typeface="Arial" panose="020B0604020202020204" pitchFamily="34" charset="0"/>
              <a:buChar char="•"/>
            </a:pPr>
            <a:r>
              <a:rPr lang="en-IN" sz="2000" b="0" spc="-10" dirty="0">
                <a:solidFill>
                  <a:srgbClr val="202124"/>
                </a:solidFill>
                <a:latin typeface="Times New Roman" panose="02020603050405020304" pitchFamily="18" charset="0"/>
                <a:cs typeface="Times New Roman" panose="02020603050405020304" pitchFamily="18" charset="0"/>
              </a:rPr>
              <a:t>Generate</a:t>
            </a:r>
            <a:r>
              <a:rPr lang="en-IN" sz="2000" b="0" spc="45" dirty="0">
                <a:solidFill>
                  <a:srgbClr val="202124"/>
                </a:solidFill>
                <a:latin typeface="Times New Roman" panose="02020603050405020304" pitchFamily="18" charset="0"/>
                <a:cs typeface="Times New Roman" panose="02020603050405020304" pitchFamily="18" charset="0"/>
              </a:rPr>
              <a:t> </a:t>
            </a:r>
            <a:r>
              <a:rPr lang="en-IN" sz="2000" b="0" dirty="0">
                <a:solidFill>
                  <a:srgbClr val="202124"/>
                </a:solidFill>
                <a:latin typeface="Times New Roman" panose="02020603050405020304" pitchFamily="18" charset="0"/>
                <a:cs typeface="Times New Roman" panose="02020603050405020304" pitchFamily="18" charset="0"/>
              </a:rPr>
              <a:t>flowcharts</a:t>
            </a:r>
            <a:r>
              <a:rPr lang="en-IN" sz="2000" b="0" spc="50" dirty="0">
                <a:solidFill>
                  <a:srgbClr val="202124"/>
                </a:solidFill>
                <a:latin typeface="Times New Roman" panose="02020603050405020304" pitchFamily="18" charset="0"/>
                <a:cs typeface="Times New Roman" panose="02020603050405020304" pitchFamily="18" charset="0"/>
              </a:rPr>
              <a:t> </a:t>
            </a:r>
            <a:r>
              <a:rPr lang="en-IN" sz="2000" b="0" dirty="0">
                <a:solidFill>
                  <a:srgbClr val="202124"/>
                </a:solidFill>
                <a:latin typeface="Times New Roman" panose="02020603050405020304" pitchFamily="18" charset="0"/>
                <a:cs typeface="Times New Roman" panose="02020603050405020304" pitchFamily="18" charset="0"/>
              </a:rPr>
              <a:t>automatically</a:t>
            </a:r>
            <a:r>
              <a:rPr lang="en-IN" sz="2000" b="0" spc="45" dirty="0">
                <a:solidFill>
                  <a:srgbClr val="202124"/>
                </a:solidFill>
                <a:latin typeface="Times New Roman" panose="02020603050405020304" pitchFamily="18" charset="0"/>
                <a:cs typeface="Times New Roman" panose="02020603050405020304" pitchFamily="18" charset="0"/>
              </a:rPr>
              <a:t> </a:t>
            </a:r>
            <a:r>
              <a:rPr lang="en-IN" sz="2000" b="0" dirty="0">
                <a:solidFill>
                  <a:srgbClr val="202124"/>
                </a:solidFill>
                <a:latin typeface="Times New Roman" panose="02020603050405020304" pitchFamily="18" charset="0"/>
                <a:cs typeface="Times New Roman" panose="02020603050405020304" pitchFamily="18" charset="0"/>
              </a:rPr>
              <a:t>for</a:t>
            </a:r>
            <a:r>
              <a:rPr lang="en-IN" sz="2000" b="0" spc="50" dirty="0">
                <a:solidFill>
                  <a:srgbClr val="202124"/>
                </a:solidFill>
                <a:latin typeface="Times New Roman" panose="02020603050405020304" pitchFamily="18" charset="0"/>
                <a:cs typeface="Times New Roman" panose="02020603050405020304" pitchFamily="18" charset="0"/>
              </a:rPr>
              <a:t> </a:t>
            </a:r>
            <a:r>
              <a:rPr lang="en-IN" sz="2000" b="0" dirty="0">
                <a:solidFill>
                  <a:srgbClr val="202124"/>
                </a:solidFill>
                <a:latin typeface="Times New Roman" panose="02020603050405020304" pitchFamily="18" charset="0"/>
                <a:cs typeface="Times New Roman" panose="02020603050405020304" pitchFamily="18" charset="0"/>
              </a:rPr>
              <a:t>visual</a:t>
            </a:r>
            <a:r>
              <a:rPr lang="en-IN" sz="2000" b="0" spc="45" dirty="0">
                <a:solidFill>
                  <a:srgbClr val="202124"/>
                </a:solidFill>
                <a:latin typeface="Times New Roman" panose="02020603050405020304" pitchFamily="18" charset="0"/>
                <a:cs typeface="Times New Roman" panose="02020603050405020304" pitchFamily="18" charset="0"/>
              </a:rPr>
              <a:t> </a:t>
            </a:r>
            <a:r>
              <a:rPr lang="en-IN" sz="2000" b="0" spc="-10" dirty="0">
                <a:solidFill>
                  <a:srgbClr val="202124"/>
                </a:solidFill>
                <a:latin typeface="Times New Roman" panose="02020603050405020304" pitchFamily="18" charset="0"/>
                <a:cs typeface="Times New Roman" panose="02020603050405020304" pitchFamily="18" charset="0"/>
              </a:rPr>
              <a:t>clarity.</a:t>
            </a:r>
          </a:p>
          <a:p>
            <a:pPr marL="355600" marR="5080" indent="-342900">
              <a:lnSpc>
                <a:spcPct val="100000"/>
              </a:lnSpc>
              <a:spcBef>
                <a:spcPts val="100"/>
              </a:spcBef>
              <a:buFont typeface="Arial" panose="020B0604020202020204" pitchFamily="34" charset="0"/>
              <a:buChar char="•"/>
            </a:pPr>
            <a:r>
              <a:rPr lang="en-IN" sz="2000" b="0" dirty="0">
                <a:latin typeface="Times New Roman" panose="02020603050405020304" pitchFamily="18" charset="0"/>
                <a:cs typeface="Times New Roman" panose="02020603050405020304" pitchFamily="18" charset="0"/>
              </a:rPr>
              <a:t>Enhance coding accuracy and efficiency for developers by providing seamless integration of pseudocode, code, and flowcharts.</a:t>
            </a:r>
          </a:p>
          <a:p>
            <a:pPr marL="247650" algn="l">
              <a:spcBef>
                <a:spcPts val="100"/>
              </a:spcBef>
            </a:pPr>
            <a:endParaRPr lang="en-US" sz="2000" b="0" dirty="0">
              <a:latin typeface="Times New Roman" panose="02020603050405020304" pitchFamily="18" charset="0"/>
              <a:cs typeface="Times New Roman" panose="02020603050405020304" pitchFamily="18" charset="0"/>
            </a:endParaRPr>
          </a:p>
          <a:p>
            <a:pPr marL="247650" algn="just">
              <a:lnSpc>
                <a:spcPct val="100000"/>
              </a:lnSpc>
              <a:spcBef>
                <a:spcPts val="100"/>
              </a:spcBef>
            </a:pPr>
            <a:endParaRPr lang="en-US" sz="2000" b="0" dirty="0">
              <a:latin typeface="Times New Roman" panose="02020603050405020304" pitchFamily="18" charset="0"/>
              <a:cs typeface="Times New Roman" panose="02020603050405020304" pitchFamily="18" charset="0"/>
            </a:endParaRPr>
          </a:p>
          <a:p>
            <a:pPr marL="247650" algn="just">
              <a:lnSpc>
                <a:spcPct val="100000"/>
              </a:lnSpc>
              <a:spcBef>
                <a:spcPts val="100"/>
              </a:spcBef>
            </a:pPr>
            <a:endParaRPr lang="en-US" sz="20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7836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2BFCB-5D01-3144-E426-88AA72B9C268}"/>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5570C8B0-CF2F-6DB2-8F2F-D1BAA4719948}"/>
              </a:ext>
            </a:extLst>
          </p:cNvPr>
          <p:cNvPicPr/>
          <p:nvPr/>
        </p:nvPicPr>
        <p:blipFill>
          <a:blip r:embed="rId2" cstate="print"/>
          <a:stretch>
            <a:fillRect/>
          </a:stretch>
        </p:blipFill>
        <p:spPr>
          <a:xfrm>
            <a:off x="350875" y="19000"/>
            <a:ext cx="8665550" cy="839799"/>
          </a:xfrm>
          <a:prstGeom prst="rect">
            <a:avLst/>
          </a:prstGeom>
        </p:spPr>
      </p:pic>
      <p:sp>
        <p:nvSpPr>
          <p:cNvPr id="3" name="object 3">
            <a:extLst>
              <a:ext uri="{FF2B5EF4-FFF2-40B4-BE49-F238E27FC236}">
                <a16:creationId xmlns:a16="http://schemas.microsoft.com/office/drawing/2014/main" id="{195F8E93-92EC-6C95-17A8-6B794F7E2683}"/>
              </a:ext>
            </a:extLst>
          </p:cNvPr>
          <p:cNvSpPr txBox="1">
            <a:spLocks noGrp="1"/>
          </p:cNvSpPr>
          <p:nvPr>
            <p:ph type="title"/>
          </p:nvPr>
        </p:nvSpPr>
        <p:spPr>
          <a:xfrm>
            <a:off x="1600200" y="1374170"/>
            <a:ext cx="6248400" cy="663002"/>
          </a:xfrm>
          <a:prstGeom prst="rect">
            <a:avLst/>
          </a:prstGeom>
        </p:spPr>
        <p:txBody>
          <a:bodyPr vert="horz" wrap="square" lIns="0" tIns="16510" rIns="0" bIns="0" rtlCol="0">
            <a:spAutoFit/>
          </a:bodyPr>
          <a:lstStyle/>
          <a:p>
            <a:pPr marL="12700">
              <a:lnSpc>
                <a:spcPct val="100000"/>
              </a:lnSpc>
              <a:spcBef>
                <a:spcPts val="130"/>
              </a:spcBef>
            </a:pPr>
            <a:r>
              <a:rPr lang="en-US" spc="-10" dirty="0"/>
              <a:t>LITERATURE SURVEY</a:t>
            </a:r>
            <a:endParaRPr spc="-10" dirty="0"/>
          </a:p>
        </p:txBody>
      </p:sp>
      <p:sp>
        <p:nvSpPr>
          <p:cNvPr id="5" name="object 5">
            <a:extLst>
              <a:ext uri="{FF2B5EF4-FFF2-40B4-BE49-F238E27FC236}">
                <a16:creationId xmlns:a16="http://schemas.microsoft.com/office/drawing/2014/main" id="{FBB81122-036B-58AE-0137-5C3DBDBB7474}"/>
              </a:ext>
            </a:extLst>
          </p:cNvPr>
          <p:cNvSpPr txBox="1">
            <a:spLocks noGrp="1"/>
          </p:cNvSpPr>
          <p:nvPr>
            <p:ph type="dt" sz="half" idx="6"/>
          </p:nvPr>
        </p:nvSpPr>
        <p:spPr>
          <a:xfrm>
            <a:off x="530225" y="6466776"/>
            <a:ext cx="760094" cy="156068"/>
          </a:xfrm>
          <a:prstGeom prst="rect">
            <a:avLst/>
          </a:prstGeom>
        </p:spPr>
        <p:txBody>
          <a:bodyPr vert="horz" wrap="square" lIns="0" tIns="0" rIns="0" bIns="0" rtlCol="0">
            <a:spAutoFit/>
          </a:bodyPr>
          <a:lstStyle/>
          <a:p>
            <a:pPr marL="12700">
              <a:lnSpc>
                <a:spcPts val="1240"/>
              </a:lnSpc>
            </a:pPr>
            <a:r>
              <a:rPr spc="-10" dirty="0"/>
              <a:t>10/1</a:t>
            </a:r>
            <a:r>
              <a:rPr lang="en-US" spc="-10" dirty="0"/>
              <a:t>9</a:t>
            </a:r>
            <a:r>
              <a:rPr spc="-10" dirty="0"/>
              <a:t>/2024</a:t>
            </a:r>
          </a:p>
        </p:txBody>
      </p:sp>
      <p:sp>
        <p:nvSpPr>
          <p:cNvPr id="6" name="object 6">
            <a:extLst>
              <a:ext uri="{FF2B5EF4-FFF2-40B4-BE49-F238E27FC236}">
                <a16:creationId xmlns:a16="http://schemas.microsoft.com/office/drawing/2014/main" id="{50028462-8DEE-8FEE-E8C3-ED9823784B7C}"/>
              </a:ext>
            </a:extLst>
          </p:cNvPr>
          <p:cNvSpPr txBox="1">
            <a:spLocks noGrp="1"/>
          </p:cNvSpPr>
          <p:nvPr>
            <p:ph type="ftr" sz="quarter" idx="5"/>
          </p:nvPr>
        </p:nvSpPr>
        <p:spPr>
          <a:xfrm>
            <a:off x="4197461" y="6466776"/>
            <a:ext cx="748029" cy="156068"/>
          </a:xfrm>
          <a:prstGeom prst="rect">
            <a:avLst/>
          </a:prstGeom>
        </p:spPr>
        <p:txBody>
          <a:bodyPr vert="horz" wrap="square" lIns="0" tIns="0" rIns="0" bIns="0" rtlCol="0">
            <a:spAutoFit/>
          </a:bodyPr>
          <a:lstStyle/>
          <a:p>
            <a:pPr marL="12700">
              <a:lnSpc>
                <a:spcPts val="1240"/>
              </a:lnSpc>
            </a:pPr>
            <a:r>
              <a:rPr lang="en-US" spc="-10" dirty="0" err="1"/>
              <a:t>FlowFusion</a:t>
            </a:r>
            <a:endParaRPr spc="-10" dirty="0"/>
          </a:p>
        </p:txBody>
      </p:sp>
      <p:sp>
        <p:nvSpPr>
          <p:cNvPr id="7" name="object 7">
            <a:extLst>
              <a:ext uri="{FF2B5EF4-FFF2-40B4-BE49-F238E27FC236}">
                <a16:creationId xmlns:a16="http://schemas.microsoft.com/office/drawing/2014/main" id="{DCD7E7FE-4C18-647C-4038-32F8449CC88B}"/>
              </a:ext>
            </a:extLst>
          </p:cNvPr>
          <p:cNvSpPr txBox="1">
            <a:spLocks noGrp="1"/>
          </p:cNvSpPr>
          <p:nvPr>
            <p:ph type="sldNum" sz="quarter" idx="7"/>
          </p:nvPr>
        </p:nvSpPr>
        <p:spPr>
          <a:xfrm>
            <a:off x="8485733" y="6466776"/>
            <a:ext cx="166370" cy="156068"/>
          </a:xfrm>
          <a:prstGeom prst="rect">
            <a:avLst/>
          </a:prstGeom>
        </p:spPr>
        <p:txBody>
          <a:bodyPr vert="horz" wrap="square" lIns="0" tIns="0" rIns="0" bIns="0" rtlCol="0">
            <a:spAutoFit/>
          </a:bodyPr>
          <a:lstStyle/>
          <a:p>
            <a:pPr marL="38100">
              <a:lnSpc>
                <a:spcPts val="1240"/>
              </a:lnSpc>
            </a:pPr>
            <a:r>
              <a:rPr lang="en-US" spc="-50" dirty="0"/>
              <a:t>5</a:t>
            </a:r>
            <a:endParaRPr spc="-50" dirty="0"/>
          </a:p>
        </p:txBody>
      </p:sp>
      <p:sp>
        <p:nvSpPr>
          <p:cNvPr id="4" name="object 4">
            <a:extLst>
              <a:ext uri="{FF2B5EF4-FFF2-40B4-BE49-F238E27FC236}">
                <a16:creationId xmlns:a16="http://schemas.microsoft.com/office/drawing/2014/main" id="{A400D810-A363-0E48-C3C2-F4CEE22B5752}"/>
              </a:ext>
            </a:extLst>
          </p:cNvPr>
          <p:cNvSpPr txBox="1">
            <a:spLocks noGrp="1"/>
          </p:cNvSpPr>
          <p:nvPr>
            <p:ph type="body" idx="1"/>
          </p:nvPr>
        </p:nvSpPr>
        <p:spPr>
          <a:xfrm>
            <a:off x="152400" y="2278610"/>
            <a:ext cx="8864025" cy="4001095"/>
          </a:xfrm>
          <a:prstGeom prst="rect">
            <a:avLst/>
          </a:prstGeom>
        </p:spPr>
        <p:txBody>
          <a:bodyPr vert="horz" wrap="square" lIns="0" tIns="12700" rIns="0" bIns="0" rtlCol="0">
            <a:spAutoFit/>
          </a:bodyPr>
          <a:lstStyle/>
          <a:p>
            <a:pPr marL="355600" indent="-342900" algn="just">
              <a:lnSpc>
                <a:spcPct val="100000"/>
              </a:lnSpc>
              <a:spcBef>
                <a:spcPts val="650"/>
              </a:spcBef>
              <a:buFont typeface="Arial" panose="020B0604020202020204" pitchFamily="34" charset="0"/>
              <a:buChar char="•"/>
            </a:pPr>
            <a:r>
              <a:rPr lang="en-US" b="0" dirty="0">
                <a:solidFill>
                  <a:srgbClr val="202124"/>
                </a:solidFill>
                <a:latin typeface="Times New Roman" panose="02020603050405020304" pitchFamily="18" charset="0"/>
                <a:cs typeface="Times New Roman" panose="02020603050405020304" pitchFamily="18" charset="0"/>
              </a:rPr>
              <a:t>Analysis</a:t>
            </a:r>
            <a:r>
              <a:rPr lang="en-US" b="0" spc="32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of</a:t>
            </a:r>
            <a:r>
              <a:rPr lang="en-US" b="0" spc="32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current</a:t>
            </a:r>
            <a:r>
              <a:rPr lang="en-US" b="0" spc="32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pseudocode-to-code</a:t>
            </a:r>
            <a:r>
              <a:rPr lang="en-US" b="0" spc="3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tools</a:t>
            </a:r>
            <a:r>
              <a:rPr lang="en-US" b="0" spc="32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reveals</a:t>
            </a:r>
            <a:r>
              <a:rPr lang="en-US" b="0" spc="32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a</a:t>
            </a:r>
            <a:r>
              <a:rPr lang="en-US" b="0" spc="32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lack</a:t>
            </a:r>
            <a:r>
              <a:rPr lang="en-US" b="0" spc="32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of</a:t>
            </a:r>
            <a:r>
              <a:rPr lang="en-US" b="0" spc="325" dirty="0">
                <a:solidFill>
                  <a:srgbClr val="202124"/>
                </a:solidFill>
                <a:latin typeface="Times New Roman" panose="02020603050405020304" pitchFamily="18" charset="0"/>
                <a:cs typeface="Times New Roman" panose="02020603050405020304" pitchFamily="18" charset="0"/>
              </a:rPr>
              <a:t> </a:t>
            </a:r>
            <a:r>
              <a:rPr lang="en-US" b="0" spc="-10" dirty="0">
                <a:solidFill>
                  <a:srgbClr val="202124"/>
                </a:solidFill>
                <a:latin typeface="Times New Roman" panose="02020603050405020304" pitchFamily="18" charset="0"/>
                <a:cs typeface="Times New Roman" panose="02020603050405020304" pitchFamily="18" charset="0"/>
              </a:rPr>
              <a:t>integration </a:t>
            </a:r>
            <a:r>
              <a:rPr lang="en-US" b="0" dirty="0">
                <a:solidFill>
                  <a:srgbClr val="202124"/>
                </a:solidFill>
                <a:latin typeface="Times New Roman" panose="02020603050405020304" pitchFamily="18" charset="0"/>
                <a:cs typeface="Times New Roman" panose="02020603050405020304" pitchFamily="18" charset="0"/>
              </a:rPr>
              <a:t>with</a:t>
            </a:r>
            <a:r>
              <a:rPr lang="en-US" b="0" spc="15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flowchart</a:t>
            </a:r>
            <a:r>
              <a:rPr lang="en-US" b="0" spc="16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design</a:t>
            </a:r>
            <a:r>
              <a:rPr lang="en-US" b="0" spc="16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and</a:t>
            </a:r>
            <a:r>
              <a:rPr lang="en-US" b="0" spc="155" dirty="0">
                <a:solidFill>
                  <a:srgbClr val="202124"/>
                </a:solidFill>
                <a:latin typeface="Times New Roman" panose="02020603050405020304" pitchFamily="18" charset="0"/>
                <a:cs typeface="Times New Roman" panose="02020603050405020304" pitchFamily="18" charset="0"/>
              </a:rPr>
              <a:t> </a:t>
            </a:r>
            <a:r>
              <a:rPr lang="en-US" b="0" spc="-10" dirty="0">
                <a:solidFill>
                  <a:srgbClr val="202124"/>
                </a:solidFill>
                <a:latin typeface="Times New Roman" panose="02020603050405020304" pitchFamily="18" charset="0"/>
                <a:cs typeface="Times New Roman" panose="02020603050405020304" pitchFamily="18" charset="0"/>
              </a:rPr>
              <a:t>precision.</a:t>
            </a:r>
            <a:endParaRPr lang="en-US" b="0" spc="-10" dirty="0">
              <a:latin typeface="Times New Roman" panose="02020603050405020304" pitchFamily="18" charset="0"/>
              <a:cs typeface="Times New Roman" panose="02020603050405020304" pitchFamily="18" charset="0"/>
            </a:endParaRPr>
          </a:p>
          <a:p>
            <a:pPr marL="355600" indent="-342900" algn="just">
              <a:lnSpc>
                <a:spcPct val="100000"/>
              </a:lnSpc>
              <a:spcBef>
                <a:spcPts val="650"/>
              </a:spcBef>
              <a:buFont typeface="Arial" panose="020B0604020202020204" pitchFamily="34" charset="0"/>
              <a:buChar char="•"/>
            </a:pPr>
            <a:r>
              <a:rPr lang="en-US" b="0" dirty="0">
                <a:solidFill>
                  <a:srgbClr val="202124"/>
                </a:solidFill>
                <a:latin typeface="Times New Roman" panose="02020603050405020304" pitchFamily="18" charset="0"/>
                <a:cs typeface="Times New Roman" panose="02020603050405020304" pitchFamily="18" charset="0"/>
              </a:rPr>
              <a:t>Literature</a:t>
            </a:r>
            <a:r>
              <a:rPr lang="en-US" b="0" spc="43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highlights</a:t>
            </a:r>
            <a:r>
              <a:rPr lang="en-US" b="0" spc="434"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the</a:t>
            </a:r>
            <a:r>
              <a:rPr lang="en-US" b="0" spc="434"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need</a:t>
            </a:r>
            <a:r>
              <a:rPr lang="en-US" b="0" spc="43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for</a:t>
            </a:r>
            <a:r>
              <a:rPr lang="en-US" b="0" spc="434"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tools</a:t>
            </a:r>
            <a:r>
              <a:rPr lang="en-US" b="0" spc="434"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that</a:t>
            </a:r>
            <a:r>
              <a:rPr lang="en-US" b="0" spc="434"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simplify</a:t>
            </a:r>
            <a:r>
              <a:rPr lang="en-US" b="0" spc="43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code</a:t>
            </a:r>
            <a:r>
              <a:rPr lang="en-US" b="0" spc="434"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generation</a:t>
            </a:r>
            <a:r>
              <a:rPr lang="en-US" b="0" spc="434" dirty="0">
                <a:solidFill>
                  <a:srgbClr val="202124"/>
                </a:solidFill>
                <a:latin typeface="Times New Roman" panose="02020603050405020304" pitchFamily="18" charset="0"/>
                <a:cs typeface="Times New Roman" panose="02020603050405020304" pitchFamily="18" charset="0"/>
              </a:rPr>
              <a:t> </a:t>
            </a:r>
            <a:r>
              <a:rPr lang="en-US" b="0" spc="-25" dirty="0">
                <a:solidFill>
                  <a:srgbClr val="202124"/>
                </a:solidFill>
                <a:latin typeface="Times New Roman" panose="02020603050405020304" pitchFamily="18" charset="0"/>
                <a:cs typeface="Times New Roman" panose="02020603050405020304" pitchFamily="18" charset="0"/>
              </a:rPr>
              <a:t>and </a:t>
            </a:r>
            <a:r>
              <a:rPr lang="en-US" b="0" dirty="0">
                <a:solidFill>
                  <a:srgbClr val="202124"/>
                </a:solidFill>
                <a:latin typeface="Times New Roman" panose="02020603050405020304" pitchFamily="18" charset="0"/>
                <a:cs typeface="Times New Roman" panose="02020603050405020304" pitchFamily="18" charset="0"/>
              </a:rPr>
              <a:t>visualization</a:t>
            </a:r>
            <a:r>
              <a:rPr lang="en-US" b="0" spc="9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for</a:t>
            </a:r>
            <a:r>
              <a:rPr lang="en-US" b="0" spc="95" dirty="0">
                <a:solidFill>
                  <a:srgbClr val="202124"/>
                </a:solidFill>
                <a:latin typeface="Times New Roman" panose="02020603050405020304" pitchFamily="18" charset="0"/>
                <a:cs typeface="Times New Roman" panose="02020603050405020304" pitchFamily="18" charset="0"/>
              </a:rPr>
              <a:t> </a:t>
            </a:r>
            <a:r>
              <a:rPr lang="en-US" b="0" spc="-10" dirty="0">
                <a:solidFill>
                  <a:srgbClr val="202124"/>
                </a:solidFill>
                <a:latin typeface="Times New Roman" panose="02020603050405020304" pitchFamily="18" charset="0"/>
                <a:cs typeface="Times New Roman" panose="02020603050405020304" pitchFamily="18" charset="0"/>
              </a:rPr>
              <a:t>developers.</a:t>
            </a:r>
            <a:endParaRPr lang="en-US" b="0" spc="-10" dirty="0">
              <a:latin typeface="Times New Roman" panose="02020603050405020304" pitchFamily="18" charset="0"/>
              <a:cs typeface="Times New Roman" panose="02020603050405020304" pitchFamily="18" charset="0"/>
            </a:endParaRPr>
          </a:p>
          <a:p>
            <a:pPr marL="355600" indent="-342900" algn="just">
              <a:lnSpc>
                <a:spcPct val="100000"/>
              </a:lnSpc>
              <a:spcBef>
                <a:spcPts val="650"/>
              </a:spcBef>
              <a:buFont typeface="Arial" panose="020B0604020202020204" pitchFamily="34" charset="0"/>
              <a:buChar char="•"/>
            </a:pPr>
            <a:r>
              <a:rPr lang="en-US" b="0" dirty="0">
                <a:solidFill>
                  <a:srgbClr val="202124"/>
                </a:solidFill>
                <a:latin typeface="Times New Roman" panose="02020603050405020304" pitchFamily="18" charset="0"/>
                <a:cs typeface="Times New Roman" panose="02020603050405020304" pitchFamily="18" charset="0"/>
              </a:rPr>
              <a:t>Building</a:t>
            </a:r>
            <a:r>
              <a:rPr lang="en-US" b="0" spc="3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on</a:t>
            </a:r>
            <a:r>
              <a:rPr lang="en-US" b="0" spc="3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these</a:t>
            </a:r>
            <a:r>
              <a:rPr lang="en-US" b="0" spc="3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insights,</a:t>
            </a:r>
            <a:r>
              <a:rPr lang="en-US" b="0" spc="3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we</a:t>
            </a:r>
            <a:r>
              <a:rPr lang="en-US" b="0" spc="3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are</a:t>
            </a:r>
            <a:r>
              <a:rPr lang="en-US" b="0" spc="3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developing</a:t>
            </a:r>
            <a:r>
              <a:rPr lang="en-US" b="0" spc="315" dirty="0">
                <a:solidFill>
                  <a:srgbClr val="202124"/>
                </a:solidFill>
                <a:latin typeface="Times New Roman" panose="02020603050405020304" pitchFamily="18" charset="0"/>
                <a:cs typeface="Times New Roman" panose="02020603050405020304" pitchFamily="18" charset="0"/>
              </a:rPr>
              <a:t> </a:t>
            </a:r>
            <a:r>
              <a:rPr lang="en-US" b="0" dirty="0" err="1">
                <a:solidFill>
                  <a:srgbClr val="202124"/>
                </a:solidFill>
                <a:latin typeface="Times New Roman" panose="02020603050405020304" pitchFamily="18" charset="0"/>
                <a:cs typeface="Times New Roman" panose="02020603050405020304" pitchFamily="18" charset="0"/>
              </a:rPr>
              <a:t>FlowFusion</a:t>
            </a:r>
            <a:r>
              <a:rPr lang="en-US" b="0" dirty="0">
                <a:solidFill>
                  <a:srgbClr val="202124"/>
                </a:solidFill>
                <a:latin typeface="Times New Roman" panose="02020603050405020304" pitchFamily="18" charset="0"/>
                <a:cs typeface="Times New Roman" panose="02020603050405020304" pitchFamily="18" charset="0"/>
              </a:rPr>
              <a:t>,</a:t>
            </a:r>
            <a:r>
              <a:rPr lang="en-US" b="0" spc="3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a</a:t>
            </a:r>
            <a:r>
              <a:rPr lang="en-US" b="0" spc="3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platform</a:t>
            </a:r>
            <a:r>
              <a:rPr lang="en-US" b="0" spc="310" dirty="0">
                <a:solidFill>
                  <a:srgbClr val="202124"/>
                </a:solidFill>
                <a:latin typeface="Times New Roman" panose="02020603050405020304" pitchFamily="18" charset="0"/>
                <a:cs typeface="Times New Roman" panose="02020603050405020304" pitchFamily="18" charset="0"/>
              </a:rPr>
              <a:t> </a:t>
            </a:r>
            <a:r>
              <a:rPr lang="en-US" b="0" spc="-20" dirty="0">
                <a:solidFill>
                  <a:srgbClr val="202124"/>
                </a:solidFill>
                <a:latin typeface="Times New Roman" panose="02020603050405020304" pitchFamily="18" charset="0"/>
                <a:cs typeface="Times New Roman" panose="02020603050405020304" pitchFamily="18" charset="0"/>
              </a:rPr>
              <a:t>that </a:t>
            </a:r>
            <a:r>
              <a:rPr lang="en-US" b="0" dirty="0">
                <a:solidFill>
                  <a:srgbClr val="202124"/>
                </a:solidFill>
                <a:latin typeface="Times New Roman" panose="02020603050405020304" pitchFamily="18" charset="0"/>
                <a:cs typeface="Times New Roman" panose="02020603050405020304" pitchFamily="18" charset="0"/>
              </a:rPr>
              <a:t>seamlessly</a:t>
            </a:r>
            <a:r>
              <a:rPr lang="en-US" b="0" spc="265" dirty="0">
                <a:solidFill>
                  <a:srgbClr val="202124"/>
                </a:solidFill>
                <a:latin typeface="Times New Roman" panose="02020603050405020304" pitchFamily="18" charset="0"/>
                <a:cs typeface="Times New Roman" panose="02020603050405020304" pitchFamily="18" charset="0"/>
              </a:rPr>
              <a:t>  </a:t>
            </a:r>
            <a:r>
              <a:rPr lang="en-US" b="0" spc="55" dirty="0">
                <a:solidFill>
                  <a:srgbClr val="202124"/>
                </a:solidFill>
                <a:latin typeface="Times New Roman" panose="02020603050405020304" pitchFamily="18" charset="0"/>
                <a:cs typeface="Times New Roman" panose="02020603050405020304" pitchFamily="18" charset="0"/>
              </a:rPr>
              <a:t>converts</a:t>
            </a:r>
            <a:r>
              <a:rPr lang="en-US" b="0" spc="265" dirty="0">
                <a:solidFill>
                  <a:srgbClr val="202124"/>
                </a:solidFill>
                <a:latin typeface="Times New Roman" panose="02020603050405020304" pitchFamily="18" charset="0"/>
                <a:cs typeface="Times New Roman" panose="02020603050405020304" pitchFamily="18" charset="0"/>
              </a:rPr>
              <a:t>  </a:t>
            </a:r>
            <a:r>
              <a:rPr lang="en-US" b="0" spc="65" dirty="0">
                <a:solidFill>
                  <a:srgbClr val="202124"/>
                </a:solidFill>
                <a:latin typeface="Times New Roman" panose="02020603050405020304" pitchFamily="18" charset="0"/>
                <a:cs typeface="Times New Roman" panose="02020603050405020304" pitchFamily="18" charset="0"/>
              </a:rPr>
              <a:t>pseudocode</a:t>
            </a:r>
            <a:r>
              <a:rPr lang="en-US" b="0" spc="265" dirty="0">
                <a:solidFill>
                  <a:srgbClr val="202124"/>
                </a:solidFill>
                <a:latin typeface="Times New Roman" panose="02020603050405020304" pitchFamily="18" charset="0"/>
                <a:cs typeface="Times New Roman" panose="02020603050405020304" pitchFamily="18" charset="0"/>
              </a:rPr>
              <a:t> </a:t>
            </a:r>
            <a:r>
              <a:rPr lang="en-US" b="0" spc="75" dirty="0">
                <a:solidFill>
                  <a:srgbClr val="202124"/>
                </a:solidFill>
                <a:latin typeface="Times New Roman" panose="02020603050405020304" pitchFamily="18" charset="0"/>
                <a:cs typeface="Times New Roman" panose="02020603050405020304" pitchFamily="18" charset="0"/>
              </a:rPr>
              <a:t>to</a:t>
            </a:r>
            <a:r>
              <a:rPr lang="en-US" b="0" spc="265" dirty="0">
                <a:solidFill>
                  <a:srgbClr val="202124"/>
                </a:solidFill>
                <a:latin typeface="Times New Roman" panose="02020603050405020304" pitchFamily="18" charset="0"/>
                <a:cs typeface="Times New Roman" panose="02020603050405020304" pitchFamily="18" charset="0"/>
              </a:rPr>
              <a:t> </a:t>
            </a:r>
            <a:r>
              <a:rPr lang="en-US" b="0" spc="50" dirty="0">
                <a:solidFill>
                  <a:srgbClr val="202124"/>
                </a:solidFill>
                <a:latin typeface="Times New Roman" panose="02020603050405020304" pitchFamily="18" charset="0"/>
                <a:cs typeface="Times New Roman" panose="02020603050405020304" pitchFamily="18" charset="0"/>
              </a:rPr>
              <a:t>Python</a:t>
            </a:r>
            <a:r>
              <a:rPr lang="en-US" b="0" spc="265" dirty="0">
                <a:solidFill>
                  <a:srgbClr val="202124"/>
                </a:solidFill>
                <a:latin typeface="Times New Roman" panose="02020603050405020304" pitchFamily="18" charset="0"/>
                <a:cs typeface="Times New Roman" panose="02020603050405020304" pitchFamily="18" charset="0"/>
              </a:rPr>
              <a:t> </a:t>
            </a:r>
            <a:r>
              <a:rPr lang="en-US" b="0" spc="65" dirty="0">
                <a:solidFill>
                  <a:srgbClr val="202124"/>
                </a:solidFill>
                <a:latin typeface="Times New Roman" panose="02020603050405020304" pitchFamily="18" charset="0"/>
                <a:cs typeface="Times New Roman" panose="02020603050405020304" pitchFamily="18" charset="0"/>
              </a:rPr>
              <a:t>code</a:t>
            </a:r>
            <a:r>
              <a:rPr lang="en-US" b="0" spc="26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while</a:t>
            </a:r>
            <a:r>
              <a:rPr lang="en-US" b="0" spc="265" dirty="0">
                <a:solidFill>
                  <a:srgbClr val="202124"/>
                </a:solidFill>
                <a:latin typeface="Times New Roman" panose="02020603050405020304" pitchFamily="18" charset="0"/>
                <a:cs typeface="Times New Roman" panose="02020603050405020304" pitchFamily="18" charset="0"/>
              </a:rPr>
              <a:t>  </a:t>
            </a:r>
            <a:r>
              <a:rPr lang="en-US" b="0" spc="40" dirty="0">
                <a:solidFill>
                  <a:srgbClr val="202124"/>
                </a:solidFill>
                <a:latin typeface="Times New Roman" panose="02020603050405020304" pitchFamily="18" charset="0"/>
                <a:cs typeface="Times New Roman" panose="02020603050405020304" pitchFamily="18" charset="0"/>
              </a:rPr>
              <a:t>designing </a:t>
            </a:r>
            <a:r>
              <a:rPr lang="en-US" b="0" dirty="0">
                <a:solidFill>
                  <a:srgbClr val="202124"/>
                </a:solidFill>
                <a:latin typeface="Times New Roman" panose="02020603050405020304" pitchFamily="18" charset="0"/>
                <a:cs typeface="Times New Roman" panose="02020603050405020304" pitchFamily="18" charset="0"/>
              </a:rPr>
              <a:t>flowcharts</a:t>
            </a:r>
            <a:r>
              <a:rPr lang="en-US" b="0" spc="1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for</a:t>
            </a:r>
            <a:r>
              <a:rPr lang="en-US" b="0" spc="1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a</a:t>
            </a:r>
            <a:r>
              <a:rPr lang="en-US" b="0" spc="1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more</a:t>
            </a:r>
            <a:r>
              <a:rPr lang="en-US" b="0" spc="1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streamlined</a:t>
            </a:r>
            <a:r>
              <a:rPr lang="en-US" b="0" spc="1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and</a:t>
            </a:r>
            <a:r>
              <a:rPr lang="en-US" b="0" spc="1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intuitive</a:t>
            </a:r>
            <a:r>
              <a:rPr lang="en-US" b="0" spc="114"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coding</a:t>
            </a:r>
            <a:r>
              <a:rPr lang="en-US" b="0" spc="110" dirty="0">
                <a:solidFill>
                  <a:srgbClr val="202124"/>
                </a:solidFill>
                <a:latin typeface="Times New Roman" panose="02020603050405020304" pitchFamily="18" charset="0"/>
                <a:cs typeface="Times New Roman" panose="02020603050405020304" pitchFamily="18" charset="0"/>
              </a:rPr>
              <a:t> </a:t>
            </a:r>
            <a:r>
              <a:rPr lang="en-US" b="0" spc="-10" dirty="0">
                <a:solidFill>
                  <a:srgbClr val="202124"/>
                </a:solidFill>
                <a:latin typeface="Times New Roman" panose="02020603050405020304" pitchFamily="18" charset="0"/>
                <a:cs typeface="Times New Roman" panose="02020603050405020304" pitchFamily="18" charset="0"/>
              </a:rPr>
              <a:t>experience.</a:t>
            </a:r>
          </a:p>
          <a:p>
            <a:pPr marL="194945" marR="5080" algn="l">
              <a:lnSpc>
                <a:spcPts val="2200"/>
              </a:lnSpc>
            </a:pPr>
            <a:endParaRPr lang="en-US" sz="1800" b="0" spc="-10" dirty="0">
              <a:solidFill>
                <a:srgbClr val="202124"/>
              </a:solidFill>
              <a:latin typeface="Times New Roman" panose="02020603050405020304" pitchFamily="18" charset="0"/>
              <a:cs typeface="Times New Roman" panose="02020603050405020304" pitchFamily="18" charset="0"/>
            </a:endParaRPr>
          </a:p>
          <a:p>
            <a:pPr marL="194945" marR="5080" algn="l">
              <a:lnSpc>
                <a:spcPts val="2200"/>
              </a:lnSpc>
            </a:pPr>
            <a:r>
              <a:rPr lang="en-US" b="0" dirty="0">
                <a:latin typeface="Times New Roman" panose="02020603050405020304" pitchFamily="18" charset="0"/>
                <a:cs typeface="Times New Roman" panose="02020603050405020304" pitchFamily="18" charset="0"/>
              </a:rPr>
              <a:t>For a detailed review</a:t>
            </a:r>
            <a:r>
              <a:rPr lang="en-US" sz="2000" b="0" dirty="0">
                <a:latin typeface="Times New Roman" panose="02020603050405020304" pitchFamily="18" charset="0"/>
                <a:cs typeface="Times New Roman" panose="02020603050405020304" pitchFamily="18" charset="0"/>
              </a:rPr>
              <a:t>, </a:t>
            </a:r>
            <a:r>
              <a:rPr lang="en-US" b="0" spc="-10" dirty="0">
                <a:solidFill>
                  <a:srgbClr val="202124"/>
                </a:solidFill>
                <a:latin typeface="Times New Roman" panose="02020603050405020304" pitchFamily="18" charset="0"/>
                <a:cs typeface="Times New Roman" panose="02020603050405020304" pitchFamily="18" charset="0"/>
                <a:hlinkClick r:id="rId3" action="ppaction://hlinkfile"/>
              </a:rPr>
              <a:t>click here</a:t>
            </a:r>
            <a:endParaRPr lang="en-US" b="0" spc="-10" dirty="0">
              <a:solidFill>
                <a:srgbClr val="202124"/>
              </a:solidFill>
              <a:latin typeface="Times New Roman" panose="02020603050405020304" pitchFamily="18" charset="0"/>
              <a:cs typeface="Times New Roman" panose="02020603050405020304" pitchFamily="18" charset="0"/>
            </a:endParaRPr>
          </a:p>
          <a:p>
            <a:pPr marL="247650">
              <a:lnSpc>
                <a:spcPct val="100000"/>
              </a:lnSpc>
              <a:spcBef>
                <a:spcPts val="100"/>
              </a:spcBef>
            </a:pPr>
            <a:endParaRPr sz="1800" dirty="0">
              <a:latin typeface="Arial MT"/>
              <a:cs typeface="Arial MT"/>
            </a:endParaRPr>
          </a:p>
        </p:txBody>
      </p:sp>
    </p:spTree>
    <p:extLst>
      <p:ext uri="{BB962C8B-B14F-4D97-AF65-F5344CB8AC3E}">
        <p14:creationId xmlns:p14="http://schemas.microsoft.com/office/powerpoint/2010/main" val="583338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B876D-AB1A-556A-48BA-CE533B76909C}"/>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254E4973-D78D-1D55-953D-8FC99DE84940}"/>
              </a:ext>
            </a:extLst>
          </p:cNvPr>
          <p:cNvPicPr/>
          <p:nvPr/>
        </p:nvPicPr>
        <p:blipFill>
          <a:blip r:embed="rId2" cstate="print"/>
          <a:stretch>
            <a:fillRect/>
          </a:stretch>
        </p:blipFill>
        <p:spPr>
          <a:xfrm>
            <a:off x="350875" y="19000"/>
            <a:ext cx="8665550" cy="839799"/>
          </a:xfrm>
          <a:prstGeom prst="rect">
            <a:avLst/>
          </a:prstGeom>
        </p:spPr>
      </p:pic>
      <p:sp>
        <p:nvSpPr>
          <p:cNvPr id="3" name="object 3">
            <a:extLst>
              <a:ext uri="{FF2B5EF4-FFF2-40B4-BE49-F238E27FC236}">
                <a16:creationId xmlns:a16="http://schemas.microsoft.com/office/drawing/2014/main" id="{B258A26A-771E-385A-CAD3-17C328CD0785}"/>
              </a:ext>
            </a:extLst>
          </p:cNvPr>
          <p:cNvSpPr txBox="1">
            <a:spLocks noGrp="1"/>
          </p:cNvSpPr>
          <p:nvPr>
            <p:ph type="title"/>
          </p:nvPr>
        </p:nvSpPr>
        <p:spPr>
          <a:xfrm>
            <a:off x="1600200" y="1374170"/>
            <a:ext cx="6248400" cy="663002"/>
          </a:xfrm>
          <a:prstGeom prst="rect">
            <a:avLst/>
          </a:prstGeom>
        </p:spPr>
        <p:txBody>
          <a:bodyPr vert="horz" wrap="square" lIns="0" tIns="16510" rIns="0" bIns="0" rtlCol="0">
            <a:spAutoFit/>
          </a:bodyPr>
          <a:lstStyle/>
          <a:p>
            <a:pPr marL="12700">
              <a:lnSpc>
                <a:spcPct val="100000"/>
              </a:lnSpc>
              <a:spcBef>
                <a:spcPts val="130"/>
              </a:spcBef>
            </a:pPr>
            <a:r>
              <a:rPr lang="en-US" spc="-10" dirty="0"/>
              <a:t>      METHODOLOGY</a:t>
            </a:r>
            <a:endParaRPr spc="-10" dirty="0"/>
          </a:p>
        </p:txBody>
      </p:sp>
      <p:sp>
        <p:nvSpPr>
          <p:cNvPr id="5" name="object 5">
            <a:extLst>
              <a:ext uri="{FF2B5EF4-FFF2-40B4-BE49-F238E27FC236}">
                <a16:creationId xmlns:a16="http://schemas.microsoft.com/office/drawing/2014/main" id="{9E787F6F-B9B3-F21F-E215-8D65CA35E7D1}"/>
              </a:ext>
            </a:extLst>
          </p:cNvPr>
          <p:cNvSpPr txBox="1">
            <a:spLocks noGrp="1"/>
          </p:cNvSpPr>
          <p:nvPr>
            <p:ph type="dt" sz="half" idx="6"/>
          </p:nvPr>
        </p:nvSpPr>
        <p:spPr>
          <a:xfrm>
            <a:off x="530225" y="6466776"/>
            <a:ext cx="760094" cy="156068"/>
          </a:xfrm>
          <a:prstGeom prst="rect">
            <a:avLst/>
          </a:prstGeom>
        </p:spPr>
        <p:txBody>
          <a:bodyPr vert="horz" wrap="square" lIns="0" tIns="0" rIns="0" bIns="0" rtlCol="0">
            <a:spAutoFit/>
          </a:bodyPr>
          <a:lstStyle/>
          <a:p>
            <a:pPr marL="12700">
              <a:lnSpc>
                <a:spcPts val="1240"/>
              </a:lnSpc>
            </a:pPr>
            <a:r>
              <a:rPr spc="-10" dirty="0"/>
              <a:t>10/1</a:t>
            </a:r>
            <a:r>
              <a:rPr lang="en-US" spc="-10" dirty="0"/>
              <a:t>9</a:t>
            </a:r>
            <a:r>
              <a:rPr spc="-10" dirty="0"/>
              <a:t>/2024</a:t>
            </a:r>
          </a:p>
        </p:txBody>
      </p:sp>
      <p:sp>
        <p:nvSpPr>
          <p:cNvPr id="6" name="object 6">
            <a:extLst>
              <a:ext uri="{FF2B5EF4-FFF2-40B4-BE49-F238E27FC236}">
                <a16:creationId xmlns:a16="http://schemas.microsoft.com/office/drawing/2014/main" id="{7111AC3E-22B9-5296-99F3-3CC0DBEC77E7}"/>
              </a:ext>
            </a:extLst>
          </p:cNvPr>
          <p:cNvSpPr txBox="1">
            <a:spLocks noGrp="1"/>
          </p:cNvSpPr>
          <p:nvPr>
            <p:ph type="ftr" sz="quarter" idx="5"/>
          </p:nvPr>
        </p:nvSpPr>
        <p:spPr>
          <a:xfrm>
            <a:off x="4197461" y="6466776"/>
            <a:ext cx="748029" cy="156068"/>
          </a:xfrm>
          <a:prstGeom prst="rect">
            <a:avLst/>
          </a:prstGeom>
        </p:spPr>
        <p:txBody>
          <a:bodyPr vert="horz" wrap="square" lIns="0" tIns="0" rIns="0" bIns="0" rtlCol="0">
            <a:spAutoFit/>
          </a:bodyPr>
          <a:lstStyle/>
          <a:p>
            <a:pPr marL="12700">
              <a:lnSpc>
                <a:spcPts val="1240"/>
              </a:lnSpc>
            </a:pPr>
            <a:r>
              <a:rPr lang="en-US" spc="-10" dirty="0" err="1"/>
              <a:t>FlowFusion</a:t>
            </a:r>
            <a:endParaRPr spc="-10" dirty="0"/>
          </a:p>
        </p:txBody>
      </p:sp>
      <p:sp>
        <p:nvSpPr>
          <p:cNvPr id="7" name="object 7">
            <a:extLst>
              <a:ext uri="{FF2B5EF4-FFF2-40B4-BE49-F238E27FC236}">
                <a16:creationId xmlns:a16="http://schemas.microsoft.com/office/drawing/2014/main" id="{4AF97FD2-7E24-DE9C-C330-93122682C3B8}"/>
              </a:ext>
            </a:extLst>
          </p:cNvPr>
          <p:cNvSpPr txBox="1">
            <a:spLocks noGrp="1"/>
          </p:cNvSpPr>
          <p:nvPr>
            <p:ph type="sldNum" sz="quarter" idx="7"/>
          </p:nvPr>
        </p:nvSpPr>
        <p:spPr>
          <a:xfrm>
            <a:off x="8485733" y="6466776"/>
            <a:ext cx="166370" cy="156068"/>
          </a:xfrm>
          <a:prstGeom prst="rect">
            <a:avLst/>
          </a:prstGeom>
        </p:spPr>
        <p:txBody>
          <a:bodyPr vert="horz" wrap="square" lIns="0" tIns="0" rIns="0" bIns="0" rtlCol="0">
            <a:spAutoFit/>
          </a:bodyPr>
          <a:lstStyle/>
          <a:p>
            <a:pPr marL="38100">
              <a:lnSpc>
                <a:spcPts val="1240"/>
              </a:lnSpc>
            </a:pPr>
            <a:r>
              <a:rPr lang="en-US" spc="-50" dirty="0"/>
              <a:t>6</a:t>
            </a:r>
            <a:endParaRPr spc="-50" dirty="0"/>
          </a:p>
        </p:txBody>
      </p:sp>
      <p:sp>
        <p:nvSpPr>
          <p:cNvPr id="4" name="object 4">
            <a:extLst>
              <a:ext uri="{FF2B5EF4-FFF2-40B4-BE49-F238E27FC236}">
                <a16:creationId xmlns:a16="http://schemas.microsoft.com/office/drawing/2014/main" id="{B59122BB-971A-98CA-6479-5172BEDFC3C8}"/>
              </a:ext>
            </a:extLst>
          </p:cNvPr>
          <p:cNvSpPr txBox="1">
            <a:spLocks noGrp="1"/>
          </p:cNvSpPr>
          <p:nvPr>
            <p:ph type="body" idx="1"/>
          </p:nvPr>
        </p:nvSpPr>
        <p:spPr>
          <a:xfrm>
            <a:off x="152400" y="2018676"/>
            <a:ext cx="8864025" cy="641201"/>
          </a:xfrm>
          <a:prstGeom prst="rect">
            <a:avLst/>
          </a:prstGeom>
        </p:spPr>
        <p:txBody>
          <a:bodyPr vert="horz" wrap="square" lIns="0" tIns="12700" rIns="0" bIns="0" rtlCol="0">
            <a:spAutoFit/>
          </a:bodyPr>
          <a:lstStyle/>
          <a:p>
            <a:pPr marL="533400" indent="-285750">
              <a:lnSpc>
                <a:spcPct val="100000"/>
              </a:lnSpc>
              <a:spcBef>
                <a:spcPts val="1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Activity Diagram:</a:t>
            </a:r>
          </a:p>
          <a:p>
            <a:pPr marL="247650">
              <a:lnSpc>
                <a:spcPct val="100000"/>
              </a:lnSpc>
              <a:spcBef>
                <a:spcPts val="100"/>
              </a:spcBef>
            </a:pPr>
            <a:r>
              <a:rPr lang="en-US" sz="2000" dirty="0">
                <a:latin typeface="Times New Roman" panose="02020603050405020304" pitchFamily="18" charset="0"/>
                <a:cs typeface="Times New Roman" panose="02020603050405020304" pitchFamily="18" charset="0"/>
              </a:rPr>
              <a:t> </a:t>
            </a:r>
            <a:endParaRPr sz="2000" dirty="0">
              <a:latin typeface="Times New Roman" panose="02020603050405020304" pitchFamily="18" charset="0"/>
              <a:cs typeface="Times New Roman" panose="02020603050405020304" pitchFamily="18" charset="0"/>
            </a:endParaRPr>
          </a:p>
        </p:txBody>
      </p:sp>
      <p:pic>
        <p:nvPicPr>
          <p:cNvPr id="8" name="object 2">
            <a:extLst>
              <a:ext uri="{FF2B5EF4-FFF2-40B4-BE49-F238E27FC236}">
                <a16:creationId xmlns:a16="http://schemas.microsoft.com/office/drawing/2014/main" id="{2ED189F3-BB65-A17A-12BB-A7A695523CDE}"/>
              </a:ext>
            </a:extLst>
          </p:cNvPr>
          <p:cNvPicPr/>
          <p:nvPr/>
        </p:nvPicPr>
        <p:blipFill>
          <a:blip r:embed="rId3" cstate="print"/>
          <a:stretch>
            <a:fillRect/>
          </a:stretch>
        </p:blipFill>
        <p:spPr>
          <a:xfrm>
            <a:off x="2819400" y="2362201"/>
            <a:ext cx="3733800" cy="3886200"/>
          </a:xfrm>
          <a:prstGeom prst="rect">
            <a:avLst/>
          </a:prstGeom>
        </p:spPr>
      </p:pic>
    </p:spTree>
    <p:extLst>
      <p:ext uri="{BB962C8B-B14F-4D97-AF65-F5344CB8AC3E}">
        <p14:creationId xmlns:p14="http://schemas.microsoft.com/office/powerpoint/2010/main" val="3794965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6A31A-94B7-23DE-E6ED-C210173A7E27}"/>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3425412A-29BA-F459-6007-2A37085ED577}"/>
              </a:ext>
            </a:extLst>
          </p:cNvPr>
          <p:cNvPicPr/>
          <p:nvPr/>
        </p:nvPicPr>
        <p:blipFill>
          <a:blip r:embed="rId2" cstate="print"/>
          <a:stretch>
            <a:fillRect/>
          </a:stretch>
        </p:blipFill>
        <p:spPr>
          <a:xfrm>
            <a:off x="350875" y="19000"/>
            <a:ext cx="8665550" cy="839799"/>
          </a:xfrm>
          <a:prstGeom prst="rect">
            <a:avLst/>
          </a:prstGeom>
        </p:spPr>
      </p:pic>
      <p:sp>
        <p:nvSpPr>
          <p:cNvPr id="3" name="object 3">
            <a:extLst>
              <a:ext uri="{FF2B5EF4-FFF2-40B4-BE49-F238E27FC236}">
                <a16:creationId xmlns:a16="http://schemas.microsoft.com/office/drawing/2014/main" id="{854399C0-AC3C-6133-BD25-4B12FC72E24D}"/>
              </a:ext>
            </a:extLst>
          </p:cNvPr>
          <p:cNvSpPr txBox="1">
            <a:spLocks noGrp="1"/>
          </p:cNvSpPr>
          <p:nvPr>
            <p:ph type="title"/>
          </p:nvPr>
        </p:nvSpPr>
        <p:spPr>
          <a:xfrm>
            <a:off x="1600200" y="1374170"/>
            <a:ext cx="6248400" cy="663002"/>
          </a:xfrm>
          <a:prstGeom prst="rect">
            <a:avLst/>
          </a:prstGeom>
        </p:spPr>
        <p:txBody>
          <a:bodyPr vert="horz" wrap="square" lIns="0" tIns="16510" rIns="0" bIns="0" rtlCol="0">
            <a:spAutoFit/>
          </a:bodyPr>
          <a:lstStyle/>
          <a:p>
            <a:pPr marL="12700">
              <a:lnSpc>
                <a:spcPct val="100000"/>
              </a:lnSpc>
              <a:spcBef>
                <a:spcPts val="130"/>
              </a:spcBef>
            </a:pPr>
            <a:r>
              <a:rPr lang="en-US" spc="-10" dirty="0"/>
              <a:t>      METHODOLOGY</a:t>
            </a:r>
            <a:endParaRPr spc="-10" dirty="0"/>
          </a:p>
        </p:txBody>
      </p:sp>
      <p:sp>
        <p:nvSpPr>
          <p:cNvPr id="5" name="object 5">
            <a:extLst>
              <a:ext uri="{FF2B5EF4-FFF2-40B4-BE49-F238E27FC236}">
                <a16:creationId xmlns:a16="http://schemas.microsoft.com/office/drawing/2014/main" id="{A5EC2AA5-04D5-06BA-D5CB-391AF568EA38}"/>
              </a:ext>
            </a:extLst>
          </p:cNvPr>
          <p:cNvSpPr txBox="1">
            <a:spLocks noGrp="1"/>
          </p:cNvSpPr>
          <p:nvPr>
            <p:ph type="dt" sz="half" idx="6"/>
          </p:nvPr>
        </p:nvSpPr>
        <p:spPr>
          <a:xfrm>
            <a:off x="530225" y="6466776"/>
            <a:ext cx="760094" cy="156068"/>
          </a:xfrm>
          <a:prstGeom prst="rect">
            <a:avLst/>
          </a:prstGeom>
        </p:spPr>
        <p:txBody>
          <a:bodyPr vert="horz" wrap="square" lIns="0" tIns="0" rIns="0" bIns="0" rtlCol="0">
            <a:spAutoFit/>
          </a:bodyPr>
          <a:lstStyle/>
          <a:p>
            <a:pPr marL="12700">
              <a:lnSpc>
                <a:spcPts val="1240"/>
              </a:lnSpc>
            </a:pPr>
            <a:r>
              <a:rPr spc="-10" dirty="0"/>
              <a:t>10/1</a:t>
            </a:r>
            <a:r>
              <a:rPr lang="en-US" spc="-10" dirty="0"/>
              <a:t>9</a:t>
            </a:r>
            <a:r>
              <a:rPr spc="-10" dirty="0"/>
              <a:t>/2024</a:t>
            </a:r>
          </a:p>
        </p:txBody>
      </p:sp>
      <p:sp>
        <p:nvSpPr>
          <p:cNvPr id="6" name="object 6">
            <a:extLst>
              <a:ext uri="{FF2B5EF4-FFF2-40B4-BE49-F238E27FC236}">
                <a16:creationId xmlns:a16="http://schemas.microsoft.com/office/drawing/2014/main" id="{8F8C2826-17B7-1A96-17FE-46C68A01DCA7}"/>
              </a:ext>
            </a:extLst>
          </p:cNvPr>
          <p:cNvSpPr txBox="1">
            <a:spLocks noGrp="1"/>
          </p:cNvSpPr>
          <p:nvPr>
            <p:ph type="ftr" sz="quarter" idx="5"/>
          </p:nvPr>
        </p:nvSpPr>
        <p:spPr>
          <a:xfrm>
            <a:off x="4197461" y="6466776"/>
            <a:ext cx="748029" cy="156068"/>
          </a:xfrm>
          <a:prstGeom prst="rect">
            <a:avLst/>
          </a:prstGeom>
        </p:spPr>
        <p:txBody>
          <a:bodyPr vert="horz" wrap="square" lIns="0" tIns="0" rIns="0" bIns="0" rtlCol="0">
            <a:spAutoFit/>
          </a:bodyPr>
          <a:lstStyle/>
          <a:p>
            <a:pPr marL="12700">
              <a:lnSpc>
                <a:spcPts val="1240"/>
              </a:lnSpc>
            </a:pPr>
            <a:r>
              <a:rPr lang="en-US" spc="-10" dirty="0" err="1"/>
              <a:t>FlowFusion</a:t>
            </a:r>
            <a:endParaRPr spc="-10" dirty="0"/>
          </a:p>
        </p:txBody>
      </p:sp>
      <p:sp>
        <p:nvSpPr>
          <p:cNvPr id="7" name="object 7">
            <a:extLst>
              <a:ext uri="{FF2B5EF4-FFF2-40B4-BE49-F238E27FC236}">
                <a16:creationId xmlns:a16="http://schemas.microsoft.com/office/drawing/2014/main" id="{C6AFB80E-A1B4-6E54-575F-8C524650BC93}"/>
              </a:ext>
            </a:extLst>
          </p:cNvPr>
          <p:cNvSpPr txBox="1">
            <a:spLocks noGrp="1"/>
          </p:cNvSpPr>
          <p:nvPr>
            <p:ph type="sldNum" sz="quarter" idx="7"/>
          </p:nvPr>
        </p:nvSpPr>
        <p:spPr>
          <a:xfrm>
            <a:off x="8485733" y="6466776"/>
            <a:ext cx="166370" cy="156068"/>
          </a:xfrm>
          <a:prstGeom prst="rect">
            <a:avLst/>
          </a:prstGeom>
        </p:spPr>
        <p:txBody>
          <a:bodyPr vert="horz" wrap="square" lIns="0" tIns="0" rIns="0" bIns="0" rtlCol="0">
            <a:spAutoFit/>
          </a:bodyPr>
          <a:lstStyle/>
          <a:p>
            <a:pPr marL="38100">
              <a:lnSpc>
                <a:spcPts val="1240"/>
              </a:lnSpc>
            </a:pPr>
            <a:r>
              <a:rPr lang="en-US" spc="-50" dirty="0"/>
              <a:t>7</a:t>
            </a:r>
            <a:endParaRPr spc="-50" dirty="0"/>
          </a:p>
        </p:txBody>
      </p:sp>
      <p:sp>
        <p:nvSpPr>
          <p:cNvPr id="4" name="object 4">
            <a:extLst>
              <a:ext uri="{FF2B5EF4-FFF2-40B4-BE49-F238E27FC236}">
                <a16:creationId xmlns:a16="http://schemas.microsoft.com/office/drawing/2014/main" id="{504FC903-A25A-B28D-69FE-737A4B94F235}"/>
              </a:ext>
            </a:extLst>
          </p:cNvPr>
          <p:cNvSpPr txBox="1">
            <a:spLocks noGrp="1"/>
          </p:cNvSpPr>
          <p:nvPr>
            <p:ph type="body" idx="1"/>
          </p:nvPr>
        </p:nvSpPr>
        <p:spPr>
          <a:xfrm>
            <a:off x="152400" y="2278610"/>
            <a:ext cx="8864025" cy="641201"/>
          </a:xfrm>
          <a:prstGeom prst="rect">
            <a:avLst/>
          </a:prstGeom>
        </p:spPr>
        <p:txBody>
          <a:bodyPr vert="horz" wrap="square" lIns="0" tIns="12700" rIns="0" bIns="0" rtlCol="0">
            <a:spAutoFit/>
          </a:bodyPr>
          <a:lstStyle/>
          <a:p>
            <a:pPr marL="533400" indent="-285750">
              <a:lnSpc>
                <a:spcPct val="100000"/>
              </a:lnSpc>
              <a:spcBef>
                <a:spcPts val="1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Workflow Diagram for </a:t>
            </a:r>
            <a:r>
              <a:rPr lang="en-IN" sz="2000" spc="-40" dirty="0">
                <a:latin typeface="Palatino Linotype"/>
                <a:cs typeface="Palatino Linotype"/>
              </a:rPr>
              <a:t>Converting Pseudocode to Flowchart </a:t>
            </a:r>
            <a:r>
              <a:rPr lang="en-US" sz="2000" dirty="0">
                <a:latin typeface="Times New Roman" panose="02020603050405020304" pitchFamily="18" charset="0"/>
                <a:cs typeface="Times New Roman" panose="02020603050405020304" pitchFamily="18" charset="0"/>
              </a:rPr>
              <a:t>:</a:t>
            </a:r>
          </a:p>
          <a:p>
            <a:pPr marL="247650">
              <a:lnSpc>
                <a:spcPct val="100000"/>
              </a:lnSpc>
              <a:spcBef>
                <a:spcPts val="100"/>
              </a:spcBef>
            </a:pPr>
            <a:endParaRPr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3AD2ABCC-4D45-1070-AD52-BB9250E9DC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599210"/>
            <a:ext cx="9144000" cy="3801590"/>
          </a:xfrm>
          <a:prstGeom prst="rect">
            <a:avLst/>
          </a:prstGeom>
        </p:spPr>
      </p:pic>
    </p:spTree>
    <p:extLst>
      <p:ext uri="{BB962C8B-B14F-4D97-AF65-F5344CB8AC3E}">
        <p14:creationId xmlns:p14="http://schemas.microsoft.com/office/powerpoint/2010/main" val="1762712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2A719-CB64-79E0-00C2-3F10DD639857}"/>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B281933E-703C-94BC-8529-4773836572E6}"/>
              </a:ext>
            </a:extLst>
          </p:cNvPr>
          <p:cNvPicPr/>
          <p:nvPr/>
        </p:nvPicPr>
        <p:blipFill>
          <a:blip r:embed="rId2" cstate="print"/>
          <a:stretch>
            <a:fillRect/>
          </a:stretch>
        </p:blipFill>
        <p:spPr>
          <a:xfrm>
            <a:off x="350875" y="19000"/>
            <a:ext cx="8665550" cy="839799"/>
          </a:xfrm>
          <a:prstGeom prst="rect">
            <a:avLst/>
          </a:prstGeom>
        </p:spPr>
      </p:pic>
      <p:sp>
        <p:nvSpPr>
          <p:cNvPr id="3" name="object 3">
            <a:extLst>
              <a:ext uri="{FF2B5EF4-FFF2-40B4-BE49-F238E27FC236}">
                <a16:creationId xmlns:a16="http://schemas.microsoft.com/office/drawing/2014/main" id="{33965C8E-EDCE-8FB7-8A23-3E311C26DAD3}"/>
              </a:ext>
            </a:extLst>
          </p:cNvPr>
          <p:cNvSpPr txBox="1">
            <a:spLocks noGrp="1"/>
          </p:cNvSpPr>
          <p:nvPr>
            <p:ph type="title"/>
          </p:nvPr>
        </p:nvSpPr>
        <p:spPr>
          <a:xfrm>
            <a:off x="1600200" y="1374170"/>
            <a:ext cx="6248400" cy="663002"/>
          </a:xfrm>
          <a:prstGeom prst="rect">
            <a:avLst/>
          </a:prstGeom>
        </p:spPr>
        <p:txBody>
          <a:bodyPr vert="horz" wrap="square" lIns="0" tIns="16510" rIns="0" bIns="0" rtlCol="0">
            <a:spAutoFit/>
          </a:bodyPr>
          <a:lstStyle/>
          <a:p>
            <a:pPr marL="12700">
              <a:lnSpc>
                <a:spcPct val="100000"/>
              </a:lnSpc>
              <a:spcBef>
                <a:spcPts val="130"/>
              </a:spcBef>
            </a:pPr>
            <a:r>
              <a:rPr lang="en-US" spc="-10" dirty="0"/>
              <a:t>      METHODOLOGY</a:t>
            </a:r>
            <a:endParaRPr spc="-10" dirty="0"/>
          </a:p>
        </p:txBody>
      </p:sp>
      <p:sp>
        <p:nvSpPr>
          <p:cNvPr id="5" name="object 5">
            <a:extLst>
              <a:ext uri="{FF2B5EF4-FFF2-40B4-BE49-F238E27FC236}">
                <a16:creationId xmlns:a16="http://schemas.microsoft.com/office/drawing/2014/main" id="{B09D2E2A-4703-6AFA-6427-B65D019F1AFB}"/>
              </a:ext>
            </a:extLst>
          </p:cNvPr>
          <p:cNvSpPr txBox="1">
            <a:spLocks noGrp="1"/>
          </p:cNvSpPr>
          <p:nvPr>
            <p:ph type="dt" sz="half" idx="6"/>
          </p:nvPr>
        </p:nvSpPr>
        <p:spPr>
          <a:xfrm>
            <a:off x="530225" y="6466776"/>
            <a:ext cx="760094" cy="156068"/>
          </a:xfrm>
          <a:prstGeom prst="rect">
            <a:avLst/>
          </a:prstGeom>
        </p:spPr>
        <p:txBody>
          <a:bodyPr vert="horz" wrap="square" lIns="0" tIns="0" rIns="0" bIns="0" rtlCol="0">
            <a:spAutoFit/>
          </a:bodyPr>
          <a:lstStyle/>
          <a:p>
            <a:pPr marL="12700">
              <a:lnSpc>
                <a:spcPts val="1240"/>
              </a:lnSpc>
            </a:pPr>
            <a:r>
              <a:rPr spc="-10" dirty="0"/>
              <a:t>10/1</a:t>
            </a:r>
            <a:r>
              <a:rPr lang="en-US" spc="-10" dirty="0"/>
              <a:t>9</a:t>
            </a:r>
            <a:r>
              <a:rPr spc="-10" dirty="0"/>
              <a:t>/2024</a:t>
            </a:r>
          </a:p>
        </p:txBody>
      </p:sp>
      <p:sp>
        <p:nvSpPr>
          <p:cNvPr id="6" name="object 6">
            <a:extLst>
              <a:ext uri="{FF2B5EF4-FFF2-40B4-BE49-F238E27FC236}">
                <a16:creationId xmlns:a16="http://schemas.microsoft.com/office/drawing/2014/main" id="{CAE01DB7-126B-73F5-754C-E18996CC8BCD}"/>
              </a:ext>
            </a:extLst>
          </p:cNvPr>
          <p:cNvSpPr txBox="1">
            <a:spLocks noGrp="1"/>
          </p:cNvSpPr>
          <p:nvPr>
            <p:ph type="ftr" sz="quarter" idx="5"/>
          </p:nvPr>
        </p:nvSpPr>
        <p:spPr>
          <a:xfrm>
            <a:off x="4197461" y="6466776"/>
            <a:ext cx="748029" cy="156068"/>
          </a:xfrm>
          <a:prstGeom prst="rect">
            <a:avLst/>
          </a:prstGeom>
        </p:spPr>
        <p:txBody>
          <a:bodyPr vert="horz" wrap="square" lIns="0" tIns="0" rIns="0" bIns="0" rtlCol="0">
            <a:spAutoFit/>
          </a:bodyPr>
          <a:lstStyle/>
          <a:p>
            <a:pPr marL="12700">
              <a:lnSpc>
                <a:spcPts val="1240"/>
              </a:lnSpc>
            </a:pPr>
            <a:r>
              <a:rPr lang="en-US" spc="-10" dirty="0" err="1"/>
              <a:t>FlowFusion</a:t>
            </a:r>
            <a:endParaRPr spc="-10" dirty="0"/>
          </a:p>
        </p:txBody>
      </p:sp>
      <p:sp>
        <p:nvSpPr>
          <p:cNvPr id="7" name="object 7">
            <a:extLst>
              <a:ext uri="{FF2B5EF4-FFF2-40B4-BE49-F238E27FC236}">
                <a16:creationId xmlns:a16="http://schemas.microsoft.com/office/drawing/2014/main" id="{4D87E2CD-5C37-BE76-EB03-3AD745FAEE45}"/>
              </a:ext>
            </a:extLst>
          </p:cNvPr>
          <p:cNvSpPr txBox="1">
            <a:spLocks noGrp="1"/>
          </p:cNvSpPr>
          <p:nvPr>
            <p:ph type="sldNum" sz="quarter" idx="7"/>
          </p:nvPr>
        </p:nvSpPr>
        <p:spPr>
          <a:xfrm>
            <a:off x="8485733" y="6466776"/>
            <a:ext cx="166370" cy="156068"/>
          </a:xfrm>
          <a:prstGeom prst="rect">
            <a:avLst/>
          </a:prstGeom>
        </p:spPr>
        <p:txBody>
          <a:bodyPr vert="horz" wrap="square" lIns="0" tIns="0" rIns="0" bIns="0" rtlCol="0">
            <a:spAutoFit/>
          </a:bodyPr>
          <a:lstStyle/>
          <a:p>
            <a:pPr marL="38100">
              <a:lnSpc>
                <a:spcPts val="1240"/>
              </a:lnSpc>
            </a:pPr>
            <a:r>
              <a:rPr lang="en-US" spc="-50" dirty="0"/>
              <a:t>8</a:t>
            </a:r>
            <a:endParaRPr spc="-50" dirty="0"/>
          </a:p>
        </p:txBody>
      </p:sp>
      <p:sp>
        <p:nvSpPr>
          <p:cNvPr id="4" name="object 4">
            <a:extLst>
              <a:ext uri="{FF2B5EF4-FFF2-40B4-BE49-F238E27FC236}">
                <a16:creationId xmlns:a16="http://schemas.microsoft.com/office/drawing/2014/main" id="{05C451F3-599B-1274-1950-A18253ED1FD4}"/>
              </a:ext>
            </a:extLst>
          </p:cNvPr>
          <p:cNvSpPr txBox="1">
            <a:spLocks noGrp="1"/>
          </p:cNvSpPr>
          <p:nvPr>
            <p:ph type="body" idx="1"/>
          </p:nvPr>
        </p:nvSpPr>
        <p:spPr>
          <a:xfrm>
            <a:off x="152400" y="2103148"/>
            <a:ext cx="8864025" cy="320601"/>
          </a:xfrm>
          <a:prstGeom prst="rect">
            <a:avLst/>
          </a:prstGeom>
        </p:spPr>
        <p:txBody>
          <a:bodyPr vert="horz" wrap="square" lIns="0" tIns="12700" rIns="0" bIns="0" rtlCol="0">
            <a:spAutoFit/>
          </a:bodyPr>
          <a:lstStyle/>
          <a:p>
            <a:pPr marL="247650">
              <a:lnSpc>
                <a:spcPct val="100000"/>
              </a:lnSpc>
              <a:spcBef>
                <a:spcPts val="100"/>
              </a:spcBef>
            </a:pPr>
            <a:r>
              <a:rPr lang="en-IN" sz="2000" spc="-40" dirty="0">
                <a:latin typeface="Palatino Linotype"/>
                <a:cs typeface="Palatino Linotype"/>
              </a:rPr>
              <a:t>Workflow Diagram for Compiling Pseudocode and Execution:</a:t>
            </a:r>
            <a:endParaRPr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0A010FF6-F107-7691-267C-B255647360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13" y="2632726"/>
            <a:ext cx="9166013" cy="3580827"/>
          </a:xfrm>
          <a:prstGeom prst="rect">
            <a:avLst/>
          </a:prstGeom>
        </p:spPr>
      </p:pic>
    </p:spTree>
    <p:extLst>
      <p:ext uri="{BB962C8B-B14F-4D97-AF65-F5344CB8AC3E}">
        <p14:creationId xmlns:p14="http://schemas.microsoft.com/office/powerpoint/2010/main" val="3110146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D90FB-4AD2-DF76-10F6-CDEC8DC66241}"/>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31546B4C-3640-2507-4113-DB8647675988}"/>
              </a:ext>
            </a:extLst>
          </p:cNvPr>
          <p:cNvPicPr/>
          <p:nvPr/>
        </p:nvPicPr>
        <p:blipFill>
          <a:blip r:embed="rId2" cstate="print"/>
          <a:stretch>
            <a:fillRect/>
          </a:stretch>
        </p:blipFill>
        <p:spPr>
          <a:xfrm>
            <a:off x="350875" y="19000"/>
            <a:ext cx="8665550" cy="839799"/>
          </a:xfrm>
          <a:prstGeom prst="rect">
            <a:avLst/>
          </a:prstGeom>
        </p:spPr>
      </p:pic>
      <p:sp>
        <p:nvSpPr>
          <p:cNvPr id="3" name="object 3">
            <a:extLst>
              <a:ext uri="{FF2B5EF4-FFF2-40B4-BE49-F238E27FC236}">
                <a16:creationId xmlns:a16="http://schemas.microsoft.com/office/drawing/2014/main" id="{5D8D5339-2627-998C-F86D-E5ADE01A5F7E}"/>
              </a:ext>
            </a:extLst>
          </p:cNvPr>
          <p:cNvSpPr txBox="1">
            <a:spLocks noGrp="1"/>
          </p:cNvSpPr>
          <p:nvPr>
            <p:ph type="title"/>
          </p:nvPr>
        </p:nvSpPr>
        <p:spPr>
          <a:xfrm>
            <a:off x="-124080" y="1165442"/>
            <a:ext cx="9144000" cy="509114"/>
          </a:xfrm>
          <a:prstGeom prst="rect">
            <a:avLst/>
          </a:prstGeom>
        </p:spPr>
        <p:txBody>
          <a:bodyPr vert="horz" wrap="square" lIns="0" tIns="16510" rIns="0" bIns="0" rtlCol="0">
            <a:spAutoFit/>
          </a:bodyPr>
          <a:lstStyle/>
          <a:p>
            <a:pPr marL="12700">
              <a:lnSpc>
                <a:spcPct val="100000"/>
              </a:lnSpc>
              <a:spcBef>
                <a:spcPts val="130"/>
              </a:spcBef>
            </a:pPr>
            <a:r>
              <a:rPr lang="en-US" sz="2800" spc="-10" dirty="0"/>
              <a:t>    </a:t>
            </a:r>
            <a:r>
              <a:rPr lang="en-US" sz="3200" spc="-10" dirty="0"/>
              <a:t>SOFTWARE &amp; HARDWARE REQUIREMENTS</a:t>
            </a:r>
            <a:endParaRPr sz="2800" spc="-10" dirty="0"/>
          </a:p>
        </p:txBody>
      </p:sp>
      <p:sp>
        <p:nvSpPr>
          <p:cNvPr id="5" name="object 5">
            <a:extLst>
              <a:ext uri="{FF2B5EF4-FFF2-40B4-BE49-F238E27FC236}">
                <a16:creationId xmlns:a16="http://schemas.microsoft.com/office/drawing/2014/main" id="{E61A88D9-F7AE-07C7-58A7-3D541A0BBD32}"/>
              </a:ext>
            </a:extLst>
          </p:cNvPr>
          <p:cNvSpPr txBox="1">
            <a:spLocks noGrp="1"/>
          </p:cNvSpPr>
          <p:nvPr>
            <p:ph type="dt" sz="half" idx="6"/>
          </p:nvPr>
        </p:nvSpPr>
        <p:spPr>
          <a:xfrm>
            <a:off x="530225" y="6466776"/>
            <a:ext cx="760094" cy="156068"/>
          </a:xfrm>
          <a:prstGeom prst="rect">
            <a:avLst/>
          </a:prstGeom>
        </p:spPr>
        <p:txBody>
          <a:bodyPr vert="horz" wrap="square" lIns="0" tIns="0" rIns="0" bIns="0" rtlCol="0">
            <a:spAutoFit/>
          </a:bodyPr>
          <a:lstStyle/>
          <a:p>
            <a:pPr marL="12700">
              <a:lnSpc>
                <a:spcPts val="1240"/>
              </a:lnSpc>
            </a:pPr>
            <a:r>
              <a:rPr spc="-10" dirty="0"/>
              <a:t>10/1</a:t>
            </a:r>
            <a:r>
              <a:rPr lang="en-US" spc="-10" dirty="0"/>
              <a:t>9</a:t>
            </a:r>
            <a:r>
              <a:rPr spc="-10" dirty="0"/>
              <a:t>/2024</a:t>
            </a:r>
          </a:p>
        </p:txBody>
      </p:sp>
      <p:sp>
        <p:nvSpPr>
          <p:cNvPr id="6" name="object 6">
            <a:extLst>
              <a:ext uri="{FF2B5EF4-FFF2-40B4-BE49-F238E27FC236}">
                <a16:creationId xmlns:a16="http://schemas.microsoft.com/office/drawing/2014/main" id="{4751152E-4082-7109-9CAD-668936F2C6C4}"/>
              </a:ext>
            </a:extLst>
          </p:cNvPr>
          <p:cNvSpPr txBox="1">
            <a:spLocks noGrp="1"/>
          </p:cNvSpPr>
          <p:nvPr>
            <p:ph type="ftr" sz="quarter" idx="5"/>
          </p:nvPr>
        </p:nvSpPr>
        <p:spPr>
          <a:xfrm>
            <a:off x="4197461" y="6466776"/>
            <a:ext cx="748029" cy="156068"/>
          </a:xfrm>
          <a:prstGeom prst="rect">
            <a:avLst/>
          </a:prstGeom>
        </p:spPr>
        <p:txBody>
          <a:bodyPr vert="horz" wrap="square" lIns="0" tIns="0" rIns="0" bIns="0" rtlCol="0">
            <a:spAutoFit/>
          </a:bodyPr>
          <a:lstStyle/>
          <a:p>
            <a:pPr marL="12700">
              <a:lnSpc>
                <a:spcPts val="1240"/>
              </a:lnSpc>
            </a:pPr>
            <a:r>
              <a:rPr lang="en-US" spc="-10" dirty="0" err="1"/>
              <a:t>FlowFusion</a:t>
            </a:r>
            <a:endParaRPr spc="-10" dirty="0"/>
          </a:p>
        </p:txBody>
      </p:sp>
      <p:sp>
        <p:nvSpPr>
          <p:cNvPr id="7" name="object 7">
            <a:extLst>
              <a:ext uri="{FF2B5EF4-FFF2-40B4-BE49-F238E27FC236}">
                <a16:creationId xmlns:a16="http://schemas.microsoft.com/office/drawing/2014/main" id="{028BCC5A-75FC-B736-583F-6FA87E26878C}"/>
              </a:ext>
            </a:extLst>
          </p:cNvPr>
          <p:cNvSpPr txBox="1">
            <a:spLocks noGrp="1"/>
          </p:cNvSpPr>
          <p:nvPr>
            <p:ph type="sldNum" sz="quarter" idx="7"/>
          </p:nvPr>
        </p:nvSpPr>
        <p:spPr>
          <a:xfrm>
            <a:off x="8485733" y="6466776"/>
            <a:ext cx="166370" cy="156068"/>
          </a:xfrm>
          <a:prstGeom prst="rect">
            <a:avLst/>
          </a:prstGeom>
        </p:spPr>
        <p:txBody>
          <a:bodyPr vert="horz" wrap="square" lIns="0" tIns="0" rIns="0" bIns="0" rtlCol="0">
            <a:spAutoFit/>
          </a:bodyPr>
          <a:lstStyle/>
          <a:p>
            <a:pPr marL="38100">
              <a:lnSpc>
                <a:spcPts val="1240"/>
              </a:lnSpc>
            </a:pPr>
            <a:r>
              <a:rPr lang="en-US" spc="-50" dirty="0"/>
              <a:t>9</a:t>
            </a:r>
            <a:endParaRPr spc="-50" dirty="0"/>
          </a:p>
        </p:txBody>
      </p:sp>
      <p:graphicFrame>
        <p:nvGraphicFramePr>
          <p:cNvPr id="11" name="Table 10">
            <a:extLst>
              <a:ext uri="{FF2B5EF4-FFF2-40B4-BE49-F238E27FC236}">
                <a16:creationId xmlns:a16="http://schemas.microsoft.com/office/drawing/2014/main" id="{625F4B0D-5A08-F4BF-F158-B16CBE4DFB9B}"/>
              </a:ext>
            </a:extLst>
          </p:cNvPr>
          <p:cNvGraphicFramePr>
            <a:graphicFrameLocks noGrp="1"/>
          </p:cNvGraphicFramePr>
          <p:nvPr>
            <p:extLst>
              <p:ext uri="{D42A27DB-BD31-4B8C-83A1-F6EECF244321}">
                <p14:modId xmlns:p14="http://schemas.microsoft.com/office/powerpoint/2010/main" val="4094521038"/>
              </p:ext>
            </p:extLst>
          </p:nvPr>
        </p:nvGraphicFramePr>
        <p:xfrm>
          <a:off x="1147699" y="1995018"/>
          <a:ext cx="7071901" cy="4151296"/>
        </p:xfrm>
        <a:graphic>
          <a:graphicData uri="http://schemas.openxmlformats.org/drawingml/2006/table">
            <a:tbl>
              <a:tblPr firstRow="1" bandRow="1">
                <a:tableStyleId>{5940675A-B579-460E-94D1-54222C63F5DA}</a:tableStyleId>
              </a:tblPr>
              <a:tblGrid>
                <a:gridCol w="3410573">
                  <a:extLst>
                    <a:ext uri="{9D8B030D-6E8A-4147-A177-3AD203B41FA5}">
                      <a16:colId xmlns:a16="http://schemas.microsoft.com/office/drawing/2014/main" val="1472932039"/>
                    </a:ext>
                  </a:extLst>
                </a:gridCol>
                <a:gridCol w="3661328">
                  <a:extLst>
                    <a:ext uri="{9D8B030D-6E8A-4147-A177-3AD203B41FA5}">
                      <a16:colId xmlns:a16="http://schemas.microsoft.com/office/drawing/2014/main" val="3783187071"/>
                    </a:ext>
                  </a:extLst>
                </a:gridCol>
              </a:tblGrid>
              <a:tr h="920416">
                <a:tc>
                  <a:txBody>
                    <a:bodyPr/>
                    <a:lstStyle/>
                    <a:p>
                      <a:r>
                        <a:rPr lang="en-IN" sz="2400" spc="-10" dirty="0">
                          <a:latin typeface="Times New Roman" panose="02020603050405020304" pitchFamily="18" charset="0"/>
                          <a:cs typeface="Times New Roman" panose="02020603050405020304" pitchFamily="18" charset="0"/>
                        </a:rPr>
                        <a:t>Programming</a:t>
                      </a:r>
                      <a:r>
                        <a:rPr lang="en-IN" sz="2400" spc="-5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language</a:t>
                      </a:r>
                      <a:r>
                        <a:rPr lang="en-IN" sz="2400" spc="-5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used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t>Python</a:t>
                      </a:r>
                      <a:endParaRPr lang="en-IN"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9172413"/>
                  </a:ext>
                </a:extLst>
              </a:tr>
              <a:tr h="1367534">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2400" spc="-10" dirty="0">
                          <a:latin typeface="Times New Roman" panose="02020603050405020304" pitchFamily="18" charset="0"/>
                          <a:cs typeface="Times New Roman" panose="02020603050405020304" pitchFamily="18" charset="0"/>
                        </a:rPr>
                        <a:t>Technologies</a:t>
                      </a:r>
                      <a:r>
                        <a:rPr lang="en-IN" sz="2400" spc="-5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used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Data Structures</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Machine Learning Algorithms for shape classification,</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Regular Exp. For Compiler design</a:t>
                      </a:r>
                      <a:endParaRPr lang="en-IN"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3376473"/>
                  </a:ext>
                </a:extLst>
              </a:tr>
              <a:tr h="593471">
                <a:tc>
                  <a:txBody>
                    <a:bodyPr/>
                    <a:lstStyle/>
                    <a:p>
                      <a:r>
                        <a:rPr lang="en-US" sz="2400" dirty="0">
                          <a:latin typeface="Times New Roman" panose="02020603050405020304" pitchFamily="18" charset="0"/>
                          <a:cs typeface="Times New Roman" panose="02020603050405020304" pitchFamily="18" charset="0"/>
                        </a:rPr>
                        <a:t>Editor(software tool) used</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42900" indent="-342900">
                        <a:buAutoNum type="arabicPeriod"/>
                      </a:pPr>
                      <a:r>
                        <a:rPr lang="en-US" sz="2000" dirty="0" err="1">
                          <a:latin typeface="Times New Roman" panose="02020603050405020304" pitchFamily="18" charset="0"/>
                          <a:cs typeface="Times New Roman" panose="02020603050405020304" pitchFamily="18" charset="0"/>
                        </a:rPr>
                        <a:t>Replit</a:t>
                      </a:r>
                      <a:r>
                        <a:rPr lang="en-US" sz="2000" dirty="0">
                          <a:latin typeface="Times New Roman" panose="02020603050405020304" pitchFamily="18" charset="0"/>
                          <a:cs typeface="Times New Roman" panose="02020603050405020304" pitchFamily="18" charset="0"/>
                        </a:rPr>
                        <a:t> (online IDE) for Pseudocode to Flowchart conversion</a:t>
                      </a:r>
                    </a:p>
                    <a:p>
                      <a:pPr marL="342900" indent="-342900">
                        <a:buAutoNum type="arabicPeriod"/>
                      </a:pPr>
                      <a:r>
                        <a:rPr lang="en-US" sz="2000" dirty="0">
                          <a:latin typeface="Times New Roman" panose="02020603050405020304" pitchFamily="18" charset="0"/>
                          <a:cs typeface="Times New Roman" panose="02020603050405020304" pitchFamily="18" charset="0"/>
                        </a:rPr>
                        <a:t>Python IDLE for Pseudocode Compilation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35665324"/>
                  </a:ext>
                </a:extLst>
              </a:tr>
            </a:tbl>
          </a:graphicData>
        </a:graphic>
      </p:graphicFrame>
    </p:spTree>
    <p:extLst>
      <p:ext uri="{BB962C8B-B14F-4D97-AF65-F5344CB8AC3E}">
        <p14:creationId xmlns:p14="http://schemas.microsoft.com/office/powerpoint/2010/main" val="2146958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8F28B-B8AA-7A58-D46F-432849B6C526}"/>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96A8D03D-94AF-6B87-6BB0-3F7DD7426CA8}"/>
              </a:ext>
            </a:extLst>
          </p:cNvPr>
          <p:cNvPicPr/>
          <p:nvPr/>
        </p:nvPicPr>
        <p:blipFill>
          <a:blip r:embed="rId2" cstate="print"/>
          <a:stretch>
            <a:fillRect/>
          </a:stretch>
        </p:blipFill>
        <p:spPr>
          <a:xfrm>
            <a:off x="350875" y="19000"/>
            <a:ext cx="8665550" cy="839799"/>
          </a:xfrm>
          <a:prstGeom prst="rect">
            <a:avLst/>
          </a:prstGeom>
        </p:spPr>
      </p:pic>
      <p:sp>
        <p:nvSpPr>
          <p:cNvPr id="3" name="object 3">
            <a:extLst>
              <a:ext uri="{FF2B5EF4-FFF2-40B4-BE49-F238E27FC236}">
                <a16:creationId xmlns:a16="http://schemas.microsoft.com/office/drawing/2014/main" id="{19D00F78-D13F-4C52-7928-520CAFBCC847}"/>
              </a:ext>
            </a:extLst>
          </p:cNvPr>
          <p:cNvSpPr txBox="1">
            <a:spLocks noGrp="1"/>
          </p:cNvSpPr>
          <p:nvPr>
            <p:ph type="title"/>
          </p:nvPr>
        </p:nvSpPr>
        <p:spPr>
          <a:xfrm>
            <a:off x="1559450" y="978696"/>
            <a:ext cx="6248400" cy="663002"/>
          </a:xfrm>
          <a:prstGeom prst="rect">
            <a:avLst/>
          </a:prstGeom>
        </p:spPr>
        <p:txBody>
          <a:bodyPr vert="horz" wrap="square" lIns="0" tIns="16510" rIns="0" bIns="0" rtlCol="0">
            <a:spAutoFit/>
          </a:bodyPr>
          <a:lstStyle/>
          <a:p>
            <a:pPr marL="12700">
              <a:lnSpc>
                <a:spcPct val="100000"/>
              </a:lnSpc>
              <a:spcBef>
                <a:spcPts val="130"/>
              </a:spcBef>
            </a:pPr>
            <a:r>
              <a:rPr lang="en-US" spc="-10" dirty="0"/>
              <a:t>    RESULT &amp; ANALYSIS</a:t>
            </a:r>
            <a:endParaRPr spc="-10" dirty="0"/>
          </a:p>
        </p:txBody>
      </p:sp>
      <p:sp>
        <p:nvSpPr>
          <p:cNvPr id="5" name="object 5">
            <a:extLst>
              <a:ext uri="{FF2B5EF4-FFF2-40B4-BE49-F238E27FC236}">
                <a16:creationId xmlns:a16="http://schemas.microsoft.com/office/drawing/2014/main" id="{4CF699C2-9B23-E931-9654-95CE8FA25873}"/>
              </a:ext>
            </a:extLst>
          </p:cNvPr>
          <p:cNvSpPr txBox="1">
            <a:spLocks noGrp="1"/>
          </p:cNvSpPr>
          <p:nvPr>
            <p:ph type="dt" sz="half" idx="6"/>
          </p:nvPr>
        </p:nvSpPr>
        <p:spPr>
          <a:xfrm>
            <a:off x="530225" y="6466776"/>
            <a:ext cx="760094" cy="156068"/>
          </a:xfrm>
          <a:prstGeom prst="rect">
            <a:avLst/>
          </a:prstGeom>
        </p:spPr>
        <p:txBody>
          <a:bodyPr vert="horz" wrap="square" lIns="0" tIns="0" rIns="0" bIns="0" rtlCol="0">
            <a:spAutoFit/>
          </a:bodyPr>
          <a:lstStyle/>
          <a:p>
            <a:pPr marL="12700">
              <a:lnSpc>
                <a:spcPts val="1240"/>
              </a:lnSpc>
            </a:pPr>
            <a:r>
              <a:rPr spc="-10" dirty="0"/>
              <a:t>10/1</a:t>
            </a:r>
            <a:r>
              <a:rPr lang="en-US" spc="-10" dirty="0"/>
              <a:t>9</a:t>
            </a:r>
            <a:r>
              <a:rPr spc="-10" dirty="0"/>
              <a:t>/2024</a:t>
            </a:r>
          </a:p>
        </p:txBody>
      </p:sp>
      <p:sp>
        <p:nvSpPr>
          <p:cNvPr id="6" name="object 6">
            <a:extLst>
              <a:ext uri="{FF2B5EF4-FFF2-40B4-BE49-F238E27FC236}">
                <a16:creationId xmlns:a16="http://schemas.microsoft.com/office/drawing/2014/main" id="{9829418D-0322-6FDC-6FDA-FCB41238FBC9}"/>
              </a:ext>
            </a:extLst>
          </p:cNvPr>
          <p:cNvSpPr txBox="1">
            <a:spLocks noGrp="1"/>
          </p:cNvSpPr>
          <p:nvPr>
            <p:ph type="ftr" sz="quarter" idx="5"/>
          </p:nvPr>
        </p:nvSpPr>
        <p:spPr>
          <a:xfrm>
            <a:off x="4197461" y="6466776"/>
            <a:ext cx="748029" cy="156068"/>
          </a:xfrm>
          <a:prstGeom prst="rect">
            <a:avLst/>
          </a:prstGeom>
        </p:spPr>
        <p:txBody>
          <a:bodyPr vert="horz" wrap="square" lIns="0" tIns="0" rIns="0" bIns="0" rtlCol="0">
            <a:spAutoFit/>
          </a:bodyPr>
          <a:lstStyle/>
          <a:p>
            <a:pPr marL="12700">
              <a:lnSpc>
                <a:spcPts val="1240"/>
              </a:lnSpc>
            </a:pPr>
            <a:r>
              <a:rPr lang="en-US" spc="-10" dirty="0" err="1"/>
              <a:t>FlowFusion</a:t>
            </a:r>
            <a:endParaRPr spc="-10" dirty="0"/>
          </a:p>
        </p:txBody>
      </p:sp>
      <p:sp>
        <p:nvSpPr>
          <p:cNvPr id="7" name="object 7">
            <a:extLst>
              <a:ext uri="{FF2B5EF4-FFF2-40B4-BE49-F238E27FC236}">
                <a16:creationId xmlns:a16="http://schemas.microsoft.com/office/drawing/2014/main" id="{7D0397F7-B3FB-E3B5-67B5-DF6BBB6A2C9F}"/>
              </a:ext>
            </a:extLst>
          </p:cNvPr>
          <p:cNvSpPr txBox="1">
            <a:spLocks noGrp="1"/>
          </p:cNvSpPr>
          <p:nvPr>
            <p:ph type="sldNum" sz="quarter" idx="7"/>
          </p:nvPr>
        </p:nvSpPr>
        <p:spPr>
          <a:xfrm>
            <a:off x="8458200" y="6466776"/>
            <a:ext cx="193903" cy="156068"/>
          </a:xfrm>
          <a:prstGeom prst="rect">
            <a:avLst/>
          </a:prstGeom>
        </p:spPr>
        <p:txBody>
          <a:bodyPr vert="horz" wrap="square" lIns="0" tIns="0" rIns="0" bIns="0" rtlCol="0">
            <a:spAutoFit/>
          </a:bodyPr>
          <a:lstStyle/>
          <a:p>
            <a:pPr marL="38100">
              <a:lnSpc>
                <a:spcPts val="1240"/>
              </a:lnSpc>
            </a:pPr>
            <a:r>
              <a:rPr lang="en-US" spc="-50" dirty="0"/>
              <a:t>10</a:t>
            </a:r>
            <a:endParaRPr spc="-50" dirty="0"/>
          </a:p>
        </p:txBody>
      </p:sp>
      <p:sp>
        <p:nvSpPr>
          <p:cNvPr id="4" name="object 4">
            <a:extLst>
              <a:ext uri="{FF2B5EF4-FFF2-40B4-BE49-F238E27FC236}">
                <a16:creationId xmlns:a16="http://schemas.microsoft.com/office/drawing/2014/main" id="{157D9B06-B914-6B7F-DB6A-BA548EA44EB2}"/>
              </a:ext>
            </a:extLst>
          </p:cNvPr>
          <p:cNvSpPr txBox="1">
            <a:spLocks noGrp="1"/>
          </p:cNvSpPr>
          <p:nvPr>
            <p:ph type="body" idx="1"/>
          </p:nvPr>
        </p:nvSpPr>
        <p:spPr>
          <a:xfrm>
            <a:off x="120445" y="2010640"/>
            <a:ext cx="8864025" cy="320601"/>
          </a:xfrm>
          <a:prstGeom prst="rect">
            <a:avLst/>
          </a:prstGeom>
        </p:spPr>
        <p:txBody>
          <a:bodyPr vert="horz" wrap="square" lIns="0" tIns="12700" rIns="0" bIns="0" rtlCol="0">
            <a:spAutoFit/>
          </a:bodyPr>
          <a:lstStyle/>
          <a:p>
            <a:pPr marL="247650">
              <a:lnSpc>
                <a:spcPct val="100000"/>
              </a:lnSpc>
              <a:spcBef>
                <a:spcPts val="100"/>
              </a:spcBef>
            </a:pPr>
            <a:r>
              <a:rPr lang="en-IN" sz="2000" spc="-40" dirty="0">
                <a:latin typeface="Palatino Linotype"/>
                <a:cs typeface="Palatino Linotype"/>
              </a:rPr>
              <a:t>Output Snapshots of Pseudocode to Flowchart module :</a:t>
            </a:r>
            <a:endParaRPr sz="2000" dirty="0">
              <a:latin typeface="Times New Roman" panose="02020603050405020304" pitchFamily="18" charset="0"/>
              <a:cs typeface="Times New Roman" panose="02020603050405020304" pitchFamily="18" charset="0"/>
            </a:endParaRPr>
          </a:p>
        </p:txBody>
      </p:sp>
      <p:pic>
        <p:nvPicPr>
          <p:cNvPr id="9" name="object 5">
            <a:extLst>
              <a:ext uri="{FF2B5EF4-FFF2-40B4-BE49-F238E27FC236}">
                <a16:creationId xmlns:a16="http://schemas.microsoft.com/office/drawing/2014/main" id="{031D1A04-7C5E-C002-1DFE-AA5C718BC99A}"/>
              </a:ext>
            </a:extLst>
          </p:cNvPr>
          <p:cNvPicPr/>
          <p:nvPr/>
        </p:nvPicPr>
        <p:blipFill>
          <a:blip r:embed="rId3" cstate="print"/>
          <a:stretch>
            <a:fillRect/>
          </a:stretch>
        </p:blipFill>
        <p:spPr>
          <a:xfrm>
            <a:off x="530225" y="2743200"/>
            <a:ext cx="3909620" cy="2925426"/>
          </a:xfrm>
          <a:prstGeom prst="rect">
            <a:avLst/>
          </a:prstGeom>
        </p:spPr>
      </p:pic>
      <p:pic>
        <p:nvPicPr>
          <p:cNvPr id="10" name="object 3">
            <a:extLst>
              <a:ext uri="{FF2B5EF4-FFF2-40B4-BE49-F238E27FC236}">
                <a16:creationId xmlns:a16="http://schemas.microsoft.com/office/drawing/2014/main" id="{DDFF0947-14A9-5A41-8713-D9C6483F3B93}"/>
              </a:ext>
            </a:extLst>
          </p:cNvPr>
          <p:cNvPicPr/>
          <p:nvPr/>
        </p:nvPicPr>
        <p:blipFill>
          <a:blip r:embed="rId4" cstate="print"/>
          <a:stretch>
            <a:fillRect/>
          </a:stretch>
        </p:blipFill>
        <p:spPr>
          <a:xfrm>
            <a:off x="4876800" y="2599509"/>
            <a:ext cx="3989853" cy="3069117"/>
          </a:xfrm>
          <a:prstGeom prst="rect">
            <a:avLst/>
          </a:prstGeom>
        </p:spPr>
      </p:pic>
    </p:spTree>
    <p:extLst>
      <p:ext uri="{BB962C8B-B14F-4D97-AF65-F5344CB8AC3E}">
        <p14:creationId xmlns:p14="http://schemas.microsoft.com/office/powerpoint/2010/main" val="4170449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6312D-5074-72E7-968A-9B1C38C668EA}"/>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AACA8560-76B9-98CB-7390-13C458B3D50F}"/>
              </a:ext>
            </a:extLst>
          </p:cNvPr>
          <p:cNvPicPr/>
          <p:nvPr/>
        </p:nvPicPr>
        <p:blipFill>
          <a:blip r:embed="rId2" cstate="print"/>
          <a:stretch>
            <a:fillRect/>
          </a:stretch>
        </p:blipFill>
        <p:spPr>
          <a:xfrm>
            <a:off x="350875" y="19000"/>
            <a:ext cx="8665550" cy="839799"/>
          </a:xfrm>
          <a:prstGeom prst="rect">
            <a:avLst/>
          </a:prstGeom>
        </p:spPr>
      </p:pic>
      <p:sp>
        <p:nvSpPr>
          <p:cNvPr id="3" name="object 3">
            <a:extLst>
              <a:ext uri="{FF2B5EF4-FFF2-40B4-BE49-F238E27FC236}">
                <a16:creationId xmlns:a16="http://schemas.microsoft.com/office/drawing/2014/main" id="{AC58901B-B1C9-F3C5-F0B1-F4795A4898A7}"/>
              </a:ext>
            </a:extLst>
          </p:cNvPr>
          <p:cNvSpPr txBox="1">
            <a:spLocks noGrp="1"/>
          </p:cNvSpPr>
          <p:nvPr>
            <p:ph type="title"/>
          </p:nvPr>
        </p:nvSpPr>
        <p:spPr>
          <a:xfrm>
            <a:off x="1559450" y="978696"/>
            <a:ext cx="6248400" cy="663002"/>
          </a:xfrm>
          <a:prstGeom prst="rect">
            <a:avLst/>
          </a:prstGeom>
        </p:spPr>
        <p:txBody>
          <a:bodyPr vert="horz" wrap="square" lIns="0" tIns="16510" rIns="0" bIns="0" rtlCol="0">
            <a:spAutoFit/>
          </a:bodyPr>
          <a:lstStyle/>
          <a:p>
            <a:pPr marL="12700">
              <a:lnSpc>
                <a:spcPct val="100000"/>
              </a:lnSpc>
              <a:spcBef>
                <a:spcPts val="130"/>
              </a:spcBef>
            </a:pPr>
            <a:r>
              <a:rPr lang="en-US" spc="-10" dirty="0"/>
              <a:t>    RESULT &amp; ANALYSIS</a:t>
            </a:r>
            <a:endParaRPr spc="-10" dirty="0"/>
          </a:p>
        </p:txBody>
      </p:sp>
      <p:sp>
        <p:nvSpPr>
          <p:cNvPr id="5" name="object 5">
            <a:extLst>
              <a:ext uri="{FF2B5EF4-FFF2-40B4-BE49-F238E27FC236}">
                <a16:creationId xmlns:a16="http://schemas.microsoft.com/office/drawing/2014/main" id="{6BDC91CB-1261-60E3-7BA4-E3EBE120BBF8}"/>
              </a:ext>
            </a:extLst>
          </p:cNvPr>
          <p:cNvSpPr txBox="1">
            <a:spLocks noGrp="1"/>
          </p:cNvSpPr>
          <p:nvPr>
            <p:ph type="dt" sz="half" idx="6"/>
          </p:nvPr>
        </p:nvSpPr>
        <p:spPr>
          <a:xfrm>
            <a:off x="530225" y="6466776"/>
            <a:ext cx="760094" cy="156068"/>
          </a:xfrm>
          <a:prstGeom prst="rect">
            <a:avLst/>
          </a:prstGeom>
        </p:spPr>
        <p:txBody>
          <a:bodyPr vert="horz" wrap="square" lIns="0" tIns="0" rIns="0" bIns="0" rtlCol="0">
            <a:spAutoFit/>
          </a:bodyPr>
          <a:lstStyle/>
          <a:p>
            <a:pPr marL="12700">
              <a:lnSpc>
                <a:spcPts val="1240"/>
              </a:lnSpc>
            </a:pPr>
            <a:r>
              <a:rPr spc="-10" dirty="0"/>
              <a:t>10/1</a:t>
            </a:r>
            <a:r>
              <a:rPr lang="en-US" spc="-10" dirty="0"/>
              <a:t>9</a:t>
            </a:r>
            <a:r>
              <a:rPr spc="-10" dirty="0"/>
              <a:t>/2024</a:t>
            </a:r>
          </a:p>
        </p:txBody>
      </p:sp>
      <p:sp>
        <p:nvSpPr>
          <p:cNvPr id="6" name="object 6">
            <a:extLst>
              <a:ext uri="{FF2B5EF4-FFF2-40B4-BE49-F238E27FC236}">
                <a16:creationId xmlns:a16="http://schemas.microsoft.com/office/drawing/2014/main" id="{E66D3057-0DA8-199D-1580-E4E601C6035D}"/>
              </a:ext>
            </a:extLst>
          </p:cNvPr>
          <p:cNvSpPr txBox="1">
            <a:spLocks noGrp="1"/>
          </p:cNvSpPr>
          <p:nvPr>
            <p:ph type="ftr" sz="quarter" idx="5"/>
          </p:nvPr>
        </p:nvSpPr>
        <p:spPr>
          <a:xfrm>
            <a:off x="4197461" y="6466776"/>
            <a:ext cx="748029" cy="156068"/>
          </a:xfrm>
          <a:prstGeom prst="rect">
            <a:avLst/>
          </a:prstGeom>
        </p:spPr>
        <p:txBody>
          <a:bodyPr vert="horz" wrap="square" lIns="0" tIns="0" rIns="0" bIns="0" rtlCol="0">
            <a:spAutoFit/>
          </a:bodyPr>
          <a:lstStyle/>
          <a:p>
            <a:pPr marL="12700">
              <a:lnSpc>
                <a:spcPts val="1240"/>
              </a:lnSpc>
            </a:pPr>
            <a:r>
              <a:rPr lang="en-US" spc="-10" dirty="0" err="1"/>
              <a:t>FlowFusion</a:t>
            </a:r>
            <a:endParaRPr spc="-10" dirty="0"/>
          </a:p>
        </p:txBody>
      </p:sp>
      <p:sp>
        <p:nvSpPr>
          <p:cNvPr id="7" name="object 7">
            <a:extLst>
              <a:ext uri="{FF2B5EF4-FFF2-40B4-BE49-F238E27FC236}">
                <a16:creationId xmlns:a16="http://schemas.microsoft.com/office/drawing/2014/main" id="{F809351D-71A2-5E7D-E030-CFDF5BD586EA}"/>
              </a:ext>
            </a:extLst>
          </p:cNvPr>
          <p:cNvSpPr txBox="1">
            <a:spLocks noGrp="1"/>
          </p:cNvSpPr>
          <p:nvPr>
            <p:ph type="sldNum" sz="quarter" idx="7"/>
          </p:nvPr>
        </p:nvSpPr>
        <p:spPr>
          <a:xfrm>
            <a:off x="8458200" y="6466776"/>
            <a:ext cx="193903" cy="156068"/>
          </a:xfrm>
          <a:prstGeom prst="rect">
            <a:avLst/>
          </a:prstGeom>
        </p:spPr>
        <p:txBody>
          <a:bodyPr vert="horz" wrap="square" lIns="0" tIns="0" rIns="0" bIns="0" rtlCol="0">
            <a:spAutoFit/>
          </a:bodyPr>
          <a:lstStyle/>
          <a:p>
            <a:pPr marL="38100">
              <a:lnSpc>
                <a:spcPts val="1240"/>
              </a:lnSpc>
            </a:pPr>
            <a:r>
              <a:rPr lang="en-US" spc="-50" dirty="0"/>
              <a:t>11</a:t>
            </a:r>
            <a:endParaRPr spc="-50" dirty="0"/>
          </a:p>
        </p:txBody>
      </p:sp>
      <p:sp>
        <p:nvSpPr>
          <p:cNvPr id="4" name="object 4">
            <a:extLst>
              <a:ext uri="{FF2B5EF4-FFF2-40B4-BE49-F238E27FC236}">
                <a16:creationId xmlns:a16="http://schemas.microsoft.com/office/drawing/2014/main" id="{7409EAC2-BAFE-685D-AB88-A38D7360835A}"/>
              </a:ext>
            </a:extLst>
          </p:cNvPr>
          <p:cNvSpPr txBox="1">
            <a:spLocks noGrp="1"/>
          </p:cNvSpPr>
          <p:nvPr>
            <p:ph type="body" idx="1"/>
          </p:nvPr>
        </p:nvSpPr>
        <p:spPr>
          <a:xfrm>
            <a:off x="120445" y="2010640"/>
            <a:ext cx="8864025" cy="320601"/>
          </a:xfrm>
          <a:prstGeom prst="rect">
            <a:avLst/>
          </a:prstGeom>
        </p:spPr>
        <p:txBody>
          <a:bodyPr vert="horz" wrap="square" lIns="0" tIns="12700" rIns="0" bIns="0" rtlCol="0">
            <a:spAutoFit/>
          </a:bodyPr>
          <a:lstStyle/>
          <a:p>
            <a:pPr marL="247650">
              <a:lnSpc>
                <a:spcPct val="100000"/>
              </a:lnSpc>
              <a:spcBef>
                <a:spcPts val="100"/>
              </a:spcBef>
            </a:pPr>
            <a:r>
              <a:rPr lang="en-IN" sz="2000" spc="-40" dirty="0">
                <a:latin typeface="Palatino Linotype"/>
                <a:cs typeface="Palatino Linotype"/>
              </a:rPr>
              <a:t>Output Snapshots of Pseudocode to Python code and Compilation module :</a:t>
            </a:r>
            <a:endParaRPr sz="20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D576F30C-D78C-D8D5-7334-DBC3D14BC6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193" y="2702641"/>
            <a:ext cx="3715268" cy="2372056"/>
          </a:xfrm>
          <a:prstGeom prst="rect">
            <a:avLst/>
          </a:prstGeom>
        </p:spPr>
      </p:pic>
      <p:pic>
        <p:nvPicPr>
          <p:cNvPr id="13" name="Picture 12">
            <a:extLst>
              <a:ext uri="{FF2B5EF4-FFF2-40B4-BE49-F238E27FC236}">
                <a16:creationId xmlns:a16="http://schemas.microsoft.com/office/drawing/2014/main" id="{2037698E-5F93-7027-8388-11FEF3844A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1600" y="2712473"/>
            <a:ext cx="2971800" cy="733527"/>
          </a:xfrm>
          <a:prstGeom prst="rect">
            <a:avLst/>
          </a:prstGeom>
        </p:spPr>
      </p:pic>
      <p:pic>
        <p:nvPicPr>
          <p:cNvPr id="15" name="Picture 14">
            <a:extLst>
              <a:ext uri="{FF2B5EF4-FFF2-40B4-BE49-F238E27FC236}">
                <a16:creationId xmlns:a16="http://schemas.microsoft.com/office/drawing/2014/main" id="{051AAD94-C8F2-5B30-D483-E6DC086D09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57019" y="3740762"/>
            <a:ext cx="2996381" cy="724001"/>
          </a:xfrm>
          <a:prstGeom prst="rect">
            <a:avLst/>
          </a:prstGeom>
        </p:spPr>
      </p:pic>
      <p:pic>
        <p:nvPicPr>
          <p:cNvPr id="17" name="Picture 16">
            <a:extLst>
              <a:ext uri="{FF2B5EF4-FFF2-40B4-BE49-F238E27FC236}">
                <a16:creationId xmlns:a16="http://schemas.microsoft.com/office/drawing/2014/main" id="{DF613425-5834-2C07-0C04-3315337D633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52104" y="4593617"/>
            <a:ext cx="3077496" cy="962159"/>
          </a:xfrm>
          <a:prstGeom prst="rect">
            <a:avLst/>
          </a:prstGeom>
        </p:spPr>
      </p:pic>
    </p:spTree>
    <p:extLst>
      <p:ext uri="{BB962C8B-B14F-4D97-AF65-F5344CB8AC3E}">
        <p14:creationId xmlns:p14="http://schemas.microsoft.com/office/powerpoint/2010/main" val="3032621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15CDB-546D-4C92-948D-C59F7ECCD7BE}"/>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72E92813-ADC5-79F5-36B5-0F09A41276A3}"/>
              </a:ext>
            </a:extLst>
          </p:cNvPr>
          <p:cNvPicPr/>
          <p:nvPr/>
        </p:nvPicPr>
        <p:blipFill>
          <a:blip r:embed="rId2" cstate="print"/>
          <a:stretch>
            <a:fillRect/>
          </a:stretch>
        </p:blipFill>
        <p:spPr>
          <a:xfrm>
            <a:off x="350875" y="19000"/>
            <a:ext cx="8665550" cy="839799"/>
          </a:xfrm>
          <a:prstGeom prst="rect">
            <a:avLst/>
          </a:prstGeom>
        </p:spPr>
      </p:pic>
      <p:sp>
        <p:nvSpPr>
          <p:cNvPr id="3" name="object 3">
            <a:extLst>
              <a:ext uri="{FF2B5EF4-FFF2-40B4-BE49-F238E27FC236}">
                <a16:creationId xmlns:a16="http://schemas.microsoft.com/office/drawing/2014/main" id="{253F9A3A-999B-C813-899C-84545B8C075B}"/>
              </a:ext>
            </a:extLst>
          </p:cNvPr>
          <p:cNvSpPr txBox="1">
            <a:spLocks noGrp="1"/>
          </p:cNvSpPr>
          <p:nvPr>
            <p:ph type="title"/>
          </p:nvPr>
        </p:nvSpPr>
        <p:spPr>
          <a:xfrm>
            <a:off x="1371600" y="1386860"/>
            <a:ext cx="6248400" cy="663002"/>
          </a:xfrm>
          <a:prstGeom prst="rect">
            <a:avLst/>
          </a:prstGeom>
        </p:spPr>
        <p:txBody>
          <a:bodyPr vert="horz" wrap="square" lIns="0" tIns="16510" rIns="0" bIns="0" rtlCol="0">
            <a:spAutoFit/>
          </a:bodyPr>
          <a:lstStyle/>
          <a:p>
            <a:pPr marL="12700" algn="ctr">
              <a:lnSpc>
                <a:spcPct val="100000"/>
              </a:lnSpc>
              <a:spcBef>
                <a:spcPts val="130"/>
              </a:spcBef>
            </a:pPr>
            <a:r>
              <a:rPr lang="en-US" spc="-10" dirty="0"/>
              <a:t>   CONCLUSION</a:t>
            </a:r>
            <a:endParaRPr spc="-10" dirty="0"/>
          </a:p>
        </p:txBody>
      </p:sp>
      <p:sp>
        <p:nvSpPr>
          <p:cNvPr id="5" name="object 5">
            <a:extLst>
              <a:ext uri="{FF2B5EF4-FFF2-40B4-BE49-F238E27FC236}">
                <a16:creationId xmlns:a16="http://schemas.microsoft.com/office/drawing/2014/main" id="{0342D20E-C0EB-2151-4C51-21EE47B4369E}"/>
              </a:ext>
            </a:extLst>
          </p:cNvPr>
          <p:cNvSpPr txBox="1">
            <a:spLocks noGrp="1"/>
          </p:cNvSpPr>
          <p:nvPr>
            <p:ph type="dt" sz="half" idx="6"/>
          </p:nvPr>
        </p:nvSpPr>
        <p:spPr>
          <a:xfrm>
            <a:off x="530225" y="6466776"/>
            <a:ext cx="760094" cy="156068"/>
          </a:xfrm>
          <a:prstGeom prst="rect">
            <a:avLst/>
          </a:prstGeom>
        </p:spPr>
        <p:txBody>
          <a:bodyPr vert="horz" wrap="square" lIns="0" tIns="0" rIns="0" bIns="0" rtlCol="0">
            <a:spAutoFit/>
          </a:bodyPr>
          <a:lstStyle/>
          <a:p>
            <a:pPr marL="12700">
              <a:lnSpc>
                <a:spcPts val="1240"/>
              </a:lnSpc>
            </a:pPr>
            <a:r>
              <a:rPr spc="-10" dirty="0"/>
              <a:t>10/1</a:t>
            </a:r>
            <a:r>
              <a:rPr lang="en-US" spc="-10" dirty="0"/>
              <a:t>9</a:t>
            </a:r>
            <a:r>
              <a:rPr spc="-10" dirty="0"/>
              <a:t>/2024</a:t>
            </a:r>
          </a:p>
        </p:txBody>
      </p:sp>
      <p:sp>
        <p:nvSpPr>
          <p:cNvPr id="6" name="object 6">
            <a:extLst>
              <a:ext uri="{FF2B5EF4-FFF2-40B4-BE49-F238E27FC236}">
                <a16:creationId xmlns:a16="http://schemas.microsoft.com/office/drawing/2014/main" id="{120F81AA-23E8-B363-B355-A7A9BF70A307}"/>
              </a:ext>
            </a:extLst>
          </p:cNvPr>
          <p:cNvSpPr txBox="1">
            <a:spLocks noGrp="1"/>
          </p:cNvSpPr>
          <p:nvPr>
            <p:ph type="ftr" sz="quarter" idx="5"/>
          </p:nvPr>
        </p:nvSpPr>
        <p:spPr>
          <a:xfrm>
            <a:off x="4197461" y="6466776"/>
            <a:ext cx="748029" cy="156068"/>
          </a:xfrm>
          <a:prstGeom prst="rect">
            <a:avLst/>
          </a:prstGeom>
        </p:spPr>
        <p:txBody>
          <a:bodyPr vert="horz" wrap="square" lIns="0" tIns="0" rIns="0" bIns="0" rtlCol="0">
            <a:spAutoFit/>
          </a:bodyPr>
          <a:lstStyle/>
          <a:p>
            <a:pPr marL="12700">
              <a:lnSpc>
                <a:spcPts val="1240"/>
              </a:lnSpc>
            </a:pPr>
            <a:r>
              <a:rPr lang="en-US" spc="-10" dirty="0" err="1"/>
              <a:t>FlowFusion</a:t>
            </a:r>
            <a:endParaRPr spc="-10" dirty="0"/>
          </a:p>
        </p:txBody>
      </p:sp>
      <p:sp>
        <p:nvSpPr>
          <p:cNvPr id="7" name="object 7">
            <a:extLst>
              <a:ext uri="{FF2B5EF4-FFF2-40B4-BE49-F238E27FC236}">
                <a16:creationId xmlns:a16="http://schemas.microsoft.com/office/drawing/2014/main" id="{775ABFDC-548E-C784-D3D8-EE47F5F999C0}"/>
              </a:ext>
            </a:extLst>
          </p:cNvPr>
          <p:cNvSpPr txBox="1">
            <a:spLocks noGrp="1"/>
          </p:cNvSpPr>
          <p:nvPr>
            <p:ph type="sldNum" sz="quarter" idx="7"/>
          </p:nvPr>
        </p:nvSpPr>
        <p:spPr>
          <a:xfrm>
            <a:off x="8305800" y="6466776"/>
            <a:ext cx="346303" cy="156068"/>
          </a:xfrm>
          <a:prstGeom prst="rect">
            <a:avLst/>
          </a:prstGeom>
        </p:spPr>
        <p:txBody>
          <a:bodyPr vert="horz" wrap="square" lIns="0" tIns="0" rIns="0" bIns="0" rtlCol="0">
            <a:spAutoFit/>
          </a:bodyPr>
          <a:lstStyle/>
          <a:p>
            <a:pPr marL="38100">
              <a:lnSpc>
                <a:spcPts val="1240"/>
              </a:lnSpc>
            </a:pPr>
            <a:r>
              <a:rPr lang="en-US" spc="-50" dirty="0"/>
              <a:t>12</a:t>
            </a:r>
            <a:endParaRPr spc="-50" dirty="0"/>
          </a:p>
        </p:txBody>
      </p:sp>
      <p:sp>
        <p:nvSpPr>
          <p:cNvPr id="4" name="object 4">
            <a:extLst>
              <a:ext uri="{FF2B5EF4-FFF2-40B4-BE49-F238E27FC236}">
                <a16:creationId xmlns:a16="http://schemas.microsoft.com/office/drawing/2014/main" id="{41777294-9643-D629-1A27-329990AB8849}"/>
              </a:ext>
            </a:extLst>
          </p:cNvPr>
          <p:cNvSpPr txBox="1">
            <a:spLocks noGrp="1"/>
          </p:cNvSpPr>
          <p:nvPr>
            <p:ph type="body" idx="1"/>
          </p:nvPr>
        </p:nvSpPr>
        <p:spPr>
          <a:xfrm>
            <a:off x="152400" y="2278610"/>
            <a:ext cx="8864025" cy="3660105"/>
          </a:xfrm>
          <a:prstGeom prst="rect">
            <a:avLst/>
          </a:prstGeom>
        </p:spPr>
        <p:txBody>
          <a:bodyPr vert="horz" wrap="square" lIns="0" tIns="12700" rIns="0" bIns="0" rtlCol="0">
            <a:spAutoFit/>
          </a:bodyPr>
          <a:lstStyle/>
          <a:p>
            <a:pPr marL="355600" marR="5080" indent="-342900">
              <a:lnSpc>
                <a:spcPct val="100899"/>
              </a:lnSpc>
              <a:spcBef>
                <a:spcPts val="80"/>
              </a:spcBef>
              <a:buFont typeface="Arial" panose="020B0604020202020204" pitchFamily="34" charset="0"/>
              <a:buChar char="•"/>
              <a:tabLst>
                <a:tab pos="338455" algn="l"/>
                <a:tab pos="1701800" algn="l"/>
                <a:tab pos="2171065" algn="l"/>
                <a:tab pos="3534410" algn="l"/>
                <a:tab pos="4423410" algn="l"/>
                <a:tab pos="5835650" algn="l"/>
                <a:tab pos="6304915" algn="l"/>
                <a:tab pos="7654925" algn="l"/>
              </a:tabLst>
            </a:pPr>
            <a:r>
              <a:rPr lang="en-US" b="0" spc="-25" dirty="0">
                <a:solidFill>
                  <a:srgbClr val="202124"/>
                </a:solidFill>
                <a:latin typeface="Times New Roman" panose="02020603050405020304" pitchFamily="18" charset="0"/>
                <a:cs typeface="Times New Roman" panose="02020603050405020304" pitchFamily="18" charset="0"/>
              </a:rPr>
              <a:t>In </a:t>
            </a:r>
            <a:r>
              <a:rPr lang="en-US" b="0" spc="-10" dirty="0">
                <a:solidFill>
                  <a:srgbClr val="202124"/>
                </a:solidFill>
                <a:latin typeface="Times New Roman" panose="02020603050405020304" pitchFamily="18" charset="0"/>
                <a:cs typeface="Times New Roman" panose="02020603050405020304" pitchFamily="18" charset="0"/>
              </a:rPr>
              <a:t>conclusion, </a:t>
            </a:r>
            <a:r>
              <a:rPr lang="en-US" b="0" spc="-25" dirty="0">
                <a:solidFill>
                  <a:srgbClr val="202124"/>
                </a:solidFill>
                <a:latin typeface="Times New Roman" panose="02020603050405020304" pitchFamily="18" charset="0"/>
                <a:cs typeface="Times New Roman" panose="02020603050405020304" pitchFamily="18" charset="0"/>
              </a:rPr>
              <a:t>the  </a:t>
            </a:r>
            <a:r>
              <a:rPr lang="en-US" b="0" spc="-10" dirty="0" err="1">
                <a:solidFill>
                  <a:srgbClr val="202124"/>
                </a:solidFill>
                <a:latin typeface="Times New Roman" panose="02020603050405020304" pitchFamily="18" charset="0"/>
                <a:cs typeface="Times New Roman" panose="02020603050405020304" pitchFamily="18" charset="0"/>
              </a:rPr>
              <a:t>FlowFusion</a:t>
            </a:r>
            <a:r>
              <a:rPr lang="en-US" b="0" spc="-10" dirty="0">
                <a:solidFill>
                  <a:srgbClr val="202124"/>
                </a:solidFill>
                <a:latin typeface="Times New Roman" panose="02020603050405020304" pitchFamily="18" charset="0"/>
                <a:cs typeface="Times New Roman" panose="02020603050405020304" pitchFamily="18" charset="0"/>
              </a:rPr>
              <a:t> Project emphasizes </a:t>
            </a:r>
            <a:r>
              <a:rPr lang="en-US" b="0" spc="-25" dirty="0">
                <a:solidFill>
                  <a:srgbClr val="202124"/>
                </a:solidFill>
                <a:latin typeface="Times New Roman" panose="02020603050405020304" pitchFamily="18" charset="0"/>
                <a:cs typeface="Times New Roman" panose="02020603050405020304" pitchFamily="18" charset="0"/>
              </a:rPr>
              <a:t>the </a:t>
            </a:r>
            <a:r>
              <a:rPr lang="en-US" b="0" spc="-10" dirty="0">
                <a:solidFill>
                  <a:srgbClr val="202124"/>
                </a:solidFill>
                <a:latin typeface="Times New Roman" panose="02020603050405020304" pitchFamily="18" charset="0"/>
                <a:cs typeface="Times New Roman" panose="02020603050405020304" pitchFamily="18" charset="0"/>
              </a:rPr>
              <a:t>importance </a:t>
            </a:r>
            <a:r>
              <a:rPr lang="en-US" b="0" spc="-25" dirty="0">
                <a:solidFill>
                  <a:srgbClr val="202124"/>
                </a:solidFill>
                <a:latin typeface="Times New Roman" panose="02020603050405020304" pitchFamily="18" charset="0"/>
                <a:cs typeface="Times New Roman" panose="02020603050405020304" pitchFamily="18" charset="0"/>
              </a:rPr>
              <a:t>of </a:t>
            </a:r>
            <a:r>
              <a:rPr lang="en-US" b="0" dirty="0">
                <a:solidFill>
                  <a:srgbClr val="202124"/>
                </a:solidFill>
                <a:latin typeface="Times New Roman" panose="02020603050405020304" pitchFamily="18" charset="0"/>
                <a:cs typeface="Times New Roman" panose="02020603050405020304" pitchFamily="18" charset="0"/>
              </a:rPr>
              <a:t>efficient</a:t>
            </a:r>
            <a:r>
              <a:rPr lang="en-US" b="0" spc="2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coding</a:t>
            </a:r>
            <a:r>
              <a:rPr lang="en-US" b="0" spc="2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and</a:t>
            </a:r>
            <a:r>
              <a:rPr lang="en-US" b="0" spc="3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visualization</a:t>
            </a:r>
            <a:r>
              <a:rPr lang="en-US" b="0" spc="2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in</a:t>
            </a:r>
            <a:r>
              <a:rPr lang="en-US" b="0" spc="3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software</a:t>
            </a:r>
            <a:r>
              <a:rPr lang="en-US" b="0" spc="25" dirty="0">
                <a:solidFill>
                  <a:srgbClr val="202124"/>
                </a:solidFill>
                <a:latin typeface="Times New Roman" panose="02020603050405020304" pitchFamily="18" charset="0"/>
                <a:cs typeface="Times New Roman" panose="02020603050405020304" pitchFamily="18" charset="0"/>
              </a:rPr>
              <a:t> </a:t>
            </a:r>
            <a:r>
              <a:rPr lang="en-US" b="0" spc="-10" dirty="0">
                <a:solidFill>
                  <a:srgbClr val="202124"/>
                </a:solidFill>
                <a:latin typeface="Times New Roman" panose="02020603050405020304" pitchFamily="18" charset="0"/>
                <a:cs typeface="Times New Roman" panose="02020603050405020304" pitchFamily="18" charset="0"/>
              </a:rPr>
              <a:t>development.</a:t>
            </a:r>
            <a:endParaRPr lang="en-US" b="0" dirty="0">
              <a:latin typeface="Times New Roman" panose="02020603050405020304" pitchFamily="18" charset="0"/>
              <a:cs typeface="Times New Roman" panose="02020603050405020304" pitchFamily="18" charset="0"/>
            </a:endParaRPr>
          </a:p>
          <a:p>
            <a:pPr marL="355600" marR="5080" indent="-342900">
              <a:lnSpc>
                <a:spcPct val="100899"/>
              </a:lnSpc>
              <a:buFont typeface="Arial" panose="020B0604020202020204" pitchFamily="34" charset="0"/>
              <a:buChar char="•"/>
            </a:pPr>
            <a:r>
              <a:rPr lang="en-US" b="0" dirty="0">
                <a:solidFill>
                  <a:srgbClr val="202124"/>
                </a:solidFill>
                <a:latin typeface="Times New Roman" panose="02020603050405020304" pitchFamily="18" charset="0"/>
                <a:cs typeface="Times New Roman" panose="02020603050405020304" pitchFamily="18" charset="0"/>
              </a:rPr>
              <a:t>Our</a:t>
            </a:r>
            <a:r>
              <a:rPr lang="en-US" b="0" spc="4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platform</a:t>
            </a:r>
            <a:r>
              <a:rPr lang="en-US" b="0" spc="4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provides</a:t>
            </a:r>
            <a:r>
              <a:rPr lang="en-US" b="0" spc="4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a</a:t>
            </a:r>
            <a:r>
              <a:rPr lang="en-US" b="0" spc="45" dirty="0">
                <a:solidFill>
                  <a:srgbClr val="202124"/>
                </a:solidFill>
                <a:latin typeface="Times New Roman" panose="02020603050405020304" pitchFamily="18" charset="0"/>
                <a:cs typeface="Times New Roman" panose="02020603050405020304" pitchFamily="18" charset="0"/>
              </a:rPr>
              <a:t> </a:t>
            </a:r>
            <a:r>
              <a:rPr lang="en-US" b="0" spc="-40" dirty="0">
                <a:solidFill>
                  <a:srgbClr val="202124"/>
                </a:solidFill>
                <a:latin typeface="Times New Roman" panose="02020603050405020304" pitchFamily="18" charset="0"/>
                <a:cs typeface="Times New Roman" panose="02020603050405020304" pitchFamily="18" charset="0"/>
              </a:rPr>
              <a:t>user-</a:t>
            </a:r>
            <a:r>
              <a:rPr lang="en-US" b="0" dirty="0">
                <a:solidFill>
                  <a:srgbClr val="202124"/>
                </a:solidFill>
                <a:latin typeface="Times New Roman" panose="02020603050405020304" pitchFamily="18" charset="0"/>
                <a:cs typeface="Times New Roman" panose="02020603050405020304" pitchFamily="18" charset="0"/>
              </a:rPr>
              <a:t>friendly,</a:t>
            </a:r>
            <a:r>
              <a:rPr lang="en-US" b="0" spc="4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precise,</a:t>
            </a:r>
            <a:r>
              <a:rPr lang="en-US" b="0" spc="4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and</a:t>
            </a:r>
            <a:r>
              <a:rPr lang="en-US" b="0" spc="4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integrated</a:t>
            </a:r>
            <a:r>
              <a:rPr lang="en-US" b="0" spc="4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solution</a:t>
            </a:r>
            <a:r>
              <a:rPr lang="en-US" b="0" spc="40" dirty="0">
                <a:solidFill>
                  <a:srgbClr val="202124"/>
                </a:solidFill>
                <a:latin typeface="Times New Roman" panose="02020603050405020304" pitchFamily="18" charset="0"/>
                <a:cs typeface="Times New Roman" panose="02020603050405020304" pitchFamily="18" charset="0"/>
              </a:rPr>
              <a:t> </a:t>
            </a:r>
            <a:r>
              <a:rPr lang="en-US" b="0" spc="-25" dirty="0">
                <a:solidFill>
                  <a:srgbClr val="202124"/>
                </a:solidFill>
                <a:latin typeface="Times New Roman" panose="02020603050405020304" pitchFamily="18" charset="0"/>
                <a:cs typeface="Times New Roman" panose="02020603050405020304" pitchFamily="18" charset="0"/>
              </a:rPr>
              <a:t>for </a:t>
            </a:r>
            <a:r>
              <a:rPr lang="en-US" b="0" dirty="0">
                <a:solidFill>
                  <a:srgbClr val="202124"/>
                </a:solidFill>
                <a:latin typeface="Times New Roman" panose="02020603050405020304" pitchFamily="18" charset="0"/>
                <a:cs typeface="Times New Roman" panose="02020603050405020304" pitchFamily="18" charset="0"/>
              </a:rPr>
              <a:t>converting</a:t>
            </a:r>
            <a:r>
              <a:rPr lang="en-US" b="0" spc="6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pseudocode</a:t>
            </a:r>
            <a:r>
              <a:rPr lang="en-US" b="0" spc="6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into</a:t>
            </a:r>
            <a:r>
              <a:rPr lang="en-US" b="0" spc="7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Python</a:t>
            </a:r>
            <a:r>
              <a:rPr lang="en-US" b="0" spc="6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code</a:t>
            </a:r>
            <a:r>
              <a:rPr lang="en-US" b="0" spc="7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while</a:t>
            </a:r>
            <a:r>
              <a:rPr lang="en-US" b="0" spc="6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designing</a:t>
            </a:r>
            <a:r>
              <a:rPr lang="en-US" b="0" spc="70" dirty="0">
                <a:solidFill>
                  <a:srgbClr val="202124"/>
                </a:solidFill>
                <a:latin typeface="Times New Roman" panose="02020603050405020304" pitchFamily="18" charset="0"/>
                <a:cs typeface="Times New Roman" panose="02020603050405020304" pitchFamily="18" charset="0"/>
              </a:rPr>
              <a:t> </a:t>
            </a:r>
            <a:r>
              <a:rPr lang="en-US" b="0" spc="-10" dirty="0">
                <a:solidFill>
                  <a:srgbClr val="202124"/>
                </a:solidFill>
                <a:latin typeface="Times New Roman" panose="02020603050405020304" pitchFamily="18" charset="0"/>
                <a:cs typeface="Times New Roman" panose="02020603050405020304" pitchFamily="18" charset="0"/>
              </a:rPr>
              <a:t>flowcharts.</a:t>
            </a:r>
            <a:endParaRPr lang="en-US" b="0" dirty="0">
              <a:latin typeface="Times New Roman" panose="02020603050405020304" pitchFamily="18" charset="0"/>
              <a:cs typeface="Times New Roman" panose="02020603050405020304" pitchFamily="18" charset="0"/>
            </a:endParaRPr>
          </a:p>
          <a:p>
            <a:pPr marL="355600" marR="5080" indent="-342900">
              <a:lnSpc>
                <a:spcPct val="100899"/>
              </a:lnSpc>
              <a:buFont typeface="Arial" panose="020B0604020202020204" pitchFamily="34" charset="0"/>
              <a:buChar char="•"/>
            </a:pPr>
            <a:r>
              <a:rPr lang="en-US" b="0" dirty="0">
                <a:solidFill>
                  <a:srgbClr val="202124"/>
                </a:solidFill>
                <a:latin typeface="Times New Roman" panose="02020603050405020304" pitchFamily="18" charset="0"/>
                <a:cs typeface="Times New Roman" panose="02020603050405020304" pitchFamily="18" charset="0"/>
              </a:rPr>
              <a:t>We</a:t>
            </a:r>
            <a:r>
              <a:rPr lang="en-US" b="0" spc="30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are</a:t>
            </a:r>
            <a:r>
              <a:rPr lang="en-US" b="0" spc="30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committed</a:t>
            </a:r>
            <a:r>
              <a:rPr lang="en-US" b="0" spc="30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to</a:t>
            </a:r>
            <a:r>
              <a:rPr lang="en-US" b="0" spc="30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making</a:t>
            </a:r>
            <a:r>
              <a:rPr lang="en-US" b="0" spc="30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coding</a:t>
            </a:r>
            <a:r>
              <a:rPr lang="en-US" b="0" spc="30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more</a:t>
            </a:r>
            <a:r>
              <a:rPr lang="en-US" b="0" spc="30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accessible</a:t>
            </a:r>
            <a:r>
              <a:rPr lang="en-US" b="0" spc="30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and</a:t>
            </a:r>
            <a:r>
              <a:rPr lang="en-US" b="0" spc="305" dirty="0">
                <a:solidFill>
                  <a:srgbClr val="202124"/>
                </a:solidFill>
                <a:latin typeface="Times New Roman" panose="02020603050405020304" pitchFamily="18" charset="0"/>
                <a:cs typeface="Times New Roman" panose="02020603050405020304" pitchFamily="18" charset="0"/>
              </a:rPr>
              <a:t> </a:t>
            </a:r>
            <a:r>
              <a:rPr lang="en-US" b="0" spc="-10" dirty="0">
                <a:solidFill>
                  <a:srgbClr val="202124"/>
                </a:solidFill>
                <a:latin typeface="Times New Roman" panose="02020603050405020304" pitchFamily="18" charset="0"/>
                <a:cs typeface="Times New Roman" panose="02020603050405020304" pitchFamily="18" charset="0"/>
              </a:rPr>
              <a:t>streamlined </a:t>
            </a:r>
            <a:r>
              <a:rPr lang="en-US" b="0" dirty="0">
                <a:solidFill>
                  <a:srgbClr val="202124"/>
                </a:solidFill>
                <a:latin typeface="Times New Roman" panose="02020603050405020304" pitchFamily="18" charset="0"/>
                <a:cs typeface="Times New Roman" panose="02020603050405020304" pitchFamily="18" charset="0"/>
              </a:rPr>
              <a:t>for</a:t>
            </a:r>
            <a:r>
              <a:rPr lang="en-US" b="0" spc="40" dirty="0">
                <a:solidFill>
                  <a:srgbClr val="202124"/>
                </a:solidFill>
                <a:latin typeface="Times New Roman" panose="02020603050405020304" pitchFamily="18" charset="0"/>
                <a:cs typeface="Times New Roman" panose="02020603050405020304" pitchFamily="18" charset="0"/>
              </a:rPr>
              <a:t> </a:t>
            </a:r>
            <a:r>
              <a:rPr lang="en-US" b="0" spc="-10" dirty="0">
                <a:solidFill>
                  <a:srgbClr val="202124"/>
                </a:solidFill>
                <a:latin typeface="Times New Roman" panose="02020603050405020304" pitchFamily="18" charset="0"/>
                <a:cs typeface="Times New Roman" panose="02020603050405020304" pitchFamily="18" charset="0"/>
              </a:rPr>
              <a:t>developers.</a:t>
            </a:r>
            <a:endParaRPr lang="en-US" b="0" dirty="0">
              <a:latin typeface="Times New Roman" panose="02020603050405020304" pitchFamily="18" charset="0"/>
              <a:cs typeface="Times New Roman" panose="02020603050405020304" pitchFamily="18" charset="0"/>
            </a:endParaRPr>
          </a:p>
          <a:p>
            <a:pPr marL="355600" marR="5080" indent="-342900">
              <a:lnSpc>
                <a:spcPct val="100899"/>
              </a:lnSpc>
              <a:buFont typeface="Arial" panose="020B0604020202020204" pitchFamily="34" charset="0"/>
              <a:buChar char="•"/>
            </a:pPr>
            <a:r>
              <a:rPr lang="en-US" b="0" spc="-60" dirty="0">
                <a:solidFill>
                  <a:srgbClr val="202124"/>
                </a:solidFill>
                <a:latin typeface="Times New Roman" panose="02020603050405020304" pitchFamily="18" charset="0"/>
                <a:cs typeface="Times New Roman" panose="02020603050405020304" pitchFamily="18" charset="0"/>
              </a:rPr>
              <a:t>We</a:t>
            </a:r>
            <a:r>
              <a:rPr lang="en-US" b="0" spc="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invite</a:t>
            </a:r>
            <a:r>
              <a:rPr lang="en-US" b="0" spc="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you</a:t>
            </a:r>
            <a:r>
              <a:rPr lang="en-US" b="0" spc="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to</a:t>
            </a:r>
            <a:r>
              <a:rPr lang="en-US" b="0" spc="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join</a:t>
            </a:r>
            <a:r>
              <a:rPr lang="en-US" b="0" spc="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us</a:t>
            </a:r>
            <a:r>
              <a:rPr lang="en-US" b="0" spc="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as</a:t>
            </a:r>
            <a:r>
              <a:rPr lang="en-US" b="0" spc="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we</a:t>
            </a:r>
            <a:r>
              <a:rPr lang="en-US" b="0" spc="5" dirty="0">
                <a:solidFill>
                  <a:srgbClr val="202124"/>
                </a:solidFill>
                <a:latin typeface="Times New Roman" panose="02020603050405020304" pitchFamily="18" charset="0"/>
                <a:cs typeface="Times New Roman" panose="02020603050405020304" pitchFamily="18" charset="0"/>
              </a:rPr>
              <a:t> </a:t>
            </a:r>
            <a:r>
              <a:rPr lang="en-US" b="0" spc="-10" dirty="0">
                <a:solidFill>
                  <a:srgbClr val="202124"/>
                </a:solidFill>
                <a:latin typeface="Times New Roman" panose="02020603050405020304" pitchFamily="18" charset="0"/>
                <a:cs typeface="Times New Roman" panose="02020603050405020304" pitchFamily="18" charset="0"/>
              </a:rPr>
              <a:t>revolutionize</a:t>
            </a:r>
            <a:r>
              <a:rPr lang="en-US" b="0" spc="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the</a:t>
            </a:r>
            <a:r>
              <a:rPr lang="en-US" b="0" spc="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way</a:t>
            </a:r>
            <a:r>
              <a:rPr lang="en-US" b="0" spc="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coding</a:t>
            </a:r>
            <a:r>
              <a:rPr lang="en-US" b="0" spc="1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and</a:t>
            </a:r>
            <a:r>
              <a:rPr lang="en-US" b="0" spc="5" dirty="0">
                <a:solidFill>
                  <a:srgbClr val="202124"/>
                </a:solidFill>
                <a:latin typeface="Times New Roman" panose="02020603050405020304" pitchFamily="18" charset="0"/>
                <a:cs typeface="Times New Roman" panose="02020603050405020304" pitchFamily="18" charset="0"/>
              </a:rPr>
              <a:t> </a:t>
            </a:r>
            <a:r>
              <a:rPr lang="en-US" b="0" spc="-10" dirty="0">
                <a:solidFill>
                  <a:srgbClr val="202124"/>
                </a:solidFill>
                <a:latin typeface="Times New Roman" panose="02020603050405020304" pitchFamily="18" charset="0"/>
                <a:cs typeface="Times New Roman" panose="02020603050405020304" pitchFamily="18" charset="0"/>
              </a:rPr>
              <a:t>flowchart </a:t>
            </a:r>
            <a:r>
              <a:rPr lang="en-US" b="0" dirty="0">
                <a:solidFill>
                  <a:srgbClr val="202124"/>
                </a:solidFill>
                <a:latin typeface="Times New Roman" panose="02020603050405020304" pitchFamily="18" charset="0"/>
                <a:cs typeface="Times New Roman" panose="02020603050405020304" pitchFamily="18" charset="0"/>
              </a:rPr>
              <a:t>design</a:t>
            </a:r>
            <a:r>
              <a:rPr lang="en-US" b="0" spc="6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work</a:t>
            </a:r>
            <a:r>
              <a:rPr lang="en-US" b="0" spc="6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together</a:t>
            </a:r>
            <a:r>
              <a:rPr lang="en-US" b="0" spc="65"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for</a:t>
            </a:r>
            <a:r>
              <a:rPr lang="en-US" b="0" spc="70" dirty="0">
                <a:solidFill>
                  <a:srgbClr val="202124"/>
                </a:solidFill>
                <a:latin typeface="Times New Roman" panose="02020603050405020304" pitchFamily="18" charset="0"/>
                <a:cs typeface="Times New Roman" panose="02020603050405020304" pitchFamily="18" charset="0"/>
              </a:rPr>
              <a:t> </a:t>
            </a:r>
            <a:r>
              <a:rPr lang="en-US" b="0" dirty="0">
                <a:solidFill>
                  <a:srgbClr val="202124"/>
                </a:solidFill>
                <a:latin typeface="Times New Roman" panose="02020603050405020304" pitchFamily="18" charset="0"/>
                <a:cs typeface="Times New Roman" panose="02020603050405020304" pitchFamily="18" charset="0"/>
              </a:rPr>
              <a:t>better</a:t>
            </a:r>
            <a:r>
              <a:rPr lang="en-US" b="0" spc="65" dirty="0">
                <a:solidFill>
                  <a:srgbClr val="202124"/>
                </a:solidFill>
                <a:latin typeface="Times New Roman" panose="02020603050405020304" pitchFamily="18" charset="0"/>
                <a:cs typeface="Times New Roman" panose="02020603050405020304" pitchFamily="18" charset="0"/>
              </a:rPr>
              <a:t> </a:t>
            </a:r>
            <a:r>
              <a:rPr lang="en-US" b="0" spc="-10" dirty="0">
                <a:solidFill>
                  <a:srgbClr val="202124"/>
                </a:solidFill>
                <a:latin typeface="Times New Roman" panose="02020603050405020304" pitchFamily="18" charset="0"/>
                <a:cs typeface="Times New Roman" panose="02020603050405020304" pitchFamily="18" charset="0"/>
              </a:rPr>
              <a:t>productivity.</a:t>
            </a:r>
            <a:endParaRPr lang="en-US" b="0" dirty="0">
              <a:latin typeface="Times New Roman" panose="02020603050405020304" pitchFamily="18" charset="0"/>
              <a:cs typeface="Times New Roman" panose="02020603050405020304" pitchFamily="18" charset="0"/>
            </a:endParaRPr>
          </a:p>
          <a:p>
            <a:pPr marL="247650">
              <a:lnSpc>
                <a:spcPct val="100000"/>
              </a:lnSpc>
              <a:spcBef>
                <a:spcPts val="100"/>
              </a:spcBef>
            </a:pPr>
            <a:endParaRPr sz="1800" dirty="0">
              <a:latin typeface="Arial MT"/>
              <a:cs typeface="Arial MT"/>
            </a:endParaRPr>
          </a:p>
        </p:txBody>
      </p:sp>
    </p:spTree>
    <p:extLst>
      <p:ext uri="{BB962C8B-B14F-4D97-AF65-F5344CB8AC3E}">
        <p14:creationId xmlns:p14="http://schemas.microsoft.com/office/powerpoint/2010/main" val="351343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F5E89-67DE-8A46-8F24-E50099D96357}"/>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08463E36-B657-647B-791D-6A483B6CF799}"/>
              </a:ext>
            </a:extLst>
          </p:cNvPr>
          <p:cNvPicPr/>
          <p:nvPr/>
        </p:nvPicPr>
        <p:blipFill>
          <a:blip r:embed="rId2" cstate="print"/>
          <a:stretch>
            <a:fillRect/>
          </a:stretch>
        </p:blipFill>
        <p:spPr>
          <a:xfrm>
            <a:off x="350875" y="19000"/>
            <a:ext cx="8665550" cy="839799"/>
          </a:xfrm>
          <a:prstGeom prst="rect">
            <a:avLst/>
          </a:prstGeom>
        </p:spPr>
      </p:pic>
      <p:sp>
        <p:nvSpPr>
          <p:cNvPr id="3" name="object 3">
            <a:extLst>
              <a:ext uri="{FF2B5EF4-FFF2-40B4-BE49-F238E27FC236}">
                <a16:creationId xmlns:a16="http://schemas.microsoft.com/office/drawing/2014/main" id="{F0FBEE0B-B268-2A51-7C3E-8633B0E6D9C3}"/>
              </a:ext>
            </a:extLst>
          </p:cNvPr>
          <p:cNvSpPr txBox="1">
            <a:spLocks noGrp="1"/>
          </p:cNvSpPr>
          <p:nvPr>
            <p:ph type="title"/>
          </p:nvPr>
        </p:nvSpPr>
        <p:spPr>
          <a:xfrm>
            <a:off x="1290319" y="950779"/>
            <a:ext cx="6248400" cy="663002"/>
          </a:xfrm>
          <a:prstGeom prst="rect">
            <a:avLst/>
          </a:prstGeom>
        </p:spPr>
        <p:txBody>
          <a:bodyPr vert="horz" wrap="square" lIns="0" tIns="16510" rIns="0" bIns="0" rtlCol="0">
            <a:spAutoFit/>
          </a:bodyPr>
          <a:lstStyle/>
          <a:p>
            <a:pPr marL="12700" algn="ctr">
              <a:lnSpc>
                <a:spcPct val="100000"/>
              </a:lnSpc>
              <a:spcBef>
                <a:spcPts val="130"/>
              </a:spcBef>
            </a:pPr>
            <a:r>
              <a:rPr lang="en-US" spc="-10" dirty="0"/>
              <a:t>   REFERENCES</a:t>
            </a:r>
            <a:endParaRPr spc="-10" dirty="0"/>
          </a:p>
        </p:txBody>
      </p:sp>
      <p:sp>
        <p:nvSpPr>
          <p:cNvPr id="5" name="object 5">
            <a:extLst>
              <a:ext uri="{FF2B5EF4-FFF2-40B4-BE49-F238E27FC236}">
                <a16:creationId xmlns:a16="http://schemas.microsoft.com/office/drawing/2014/main" id="{3056CEAE-A6BB-0BA6-C9FF-9AB98030E963}"/>
              </a:ext>
            </a:extLst>
          </p:cNvPr>
          <p:cNvSpPr txBox="1">
            <a:spLocks noGrp="1"/>
          </p:cNvSpPr>
          <p:nvPr>
            <p:ph type="dt" sz="half" idx="6"/>
          </p:nvPr>
        </p:nvSpPr>
        <p:spPr>
          <a:xfrm>
            <a:off x="530225" y="6466776"/>
            <a:ext cx="760094" cy="156068"/>
          </a:xfrm>
          <a:prstGeom prst="rect">
            <a:avLst/>
          </a:prstGeom>
        </p:spPr>
        <p:txBody>
          <a:bodyPr vert="horz" wrap="square" lIns="0" tIns="0" rIns="0" bIns="0" rtlCol="0">
            <a:spAutoFit/>
          </a:bodyPr>
          <a:lstStyle/>
          <a:p>
            <a:pPr marL="12700">
              <a:lnSpc>
                <a:spcPts val="1240"/>
              </a:lnSpc>
            </a:pPr>
            <a:r>
              <a:rPr spc="-10" dirty="0"/>
              <a:t>10/1</a:t>
            </a:r>
            <a:r>
              <a:rPr lang="en-US" spc="-10" dirty="0"/>
              <a:t>9</a:t>
            </a:r>
            <a:r>
              <a:rPr spc="-10" dirty="0"/>
              <a:t>/2024</a:t>
            </a:r>
          </a:p>
        </p:txBody>
      </p:sp>
      <p:sp>
        <p:nvSpPr>
          <p:cNvPr id="6" name="object 6">
            <a:extLst>
              <a:ext uri="{FF2B5EF4-FFF2-40B4-BE49-F238E27FC236}">
                <a16:creationId xmlns:a16="http://schemas.microsoft.com/office/drawing/2014/main" id="{686E7387-C56E-A98D-7012-5CB431937445}"/>
              </a:ext>
            </a:extLst>
          </p:cNvPr>
          <p:cNvSpPr txBox="1">
            <a:spLocks noGrp="1"/>
          </p:cNvSpPr>
          <p:nvPr>
            <p:ph type="ftr" sz="quarter" idx="5"/>
          </p:nvPr>
        </p:nvSpPr>
        <p:spPr>
          <a:xfrm>
            <a:off x="4197461" y="6466776"/>
            <a:ext cx="748029" cy="156068"/>
          </a:xfrm>
          <a:prstGeom prst="rect">
            <a:avLst/>
          </a:prstGeom>
        </p:spPr>
        <p:txBody>
          <a:bodyPr vert="horz" wrap="square" lIns="0" tIns="0" rIns="0" bIns="0" rtlCol="0">
            <a:spAutoFit/>
          </a:bodyPr>
          <a:lstStyle/>
          <a:p>
            <a:pPr marL="12700">
              <a:lnSpc>
                <a:spcPts val="1240"/>
              </a:lnSpc>
            </a:pPr>
            <a:r>
              <a:rPr lang="en-US" spc="-10" dirty="0" err="1"/>
              <a:t>FlowFusion</a:t>
            </a:r>
            <a:endParaRPr spc="-10" dirty="0"/>
          </a:p>
        </p:txBody>
      </p:sp>
      <p:sp>
        <p:nvSpPr>
          <p:cNvPr id="7" name="object 7">
            <a:extLst>
              <a:ext uri="{FF2B5EF4-FFF2-40B4-BE49-F238E27FC236}">
                <a16:creationId xmlns:a16="http://schemas.microsoft.com/office/drawing/2014/main" id="{4F3AF247-4606-BFD9-3A6F-AAA9368B66EB}"/>
              </a:ext>
            </a:extLst>
          </p:cNvPr>
          <p:cNvSpPr txBox="1">
            <a:spLocks noGrp="1"/>
          </p:cNvSpPr>
          <p:nvPr>
            <p:ph type="sldNum" sz="quarter" idx="7"/>
          </p:nvPr>
        </p:nvSpPr>
        <p:spPr>
          <a:xfrm>
            <a:off x="8382000" y="6466776"/>
            <a:ext cx="270103" cy="156068"/>
          </a:xfrm>
          <a:prstGeom prst="rect">
            <a:avLst/>
          </a:prstGeom>
        </p:spPr>
        <p:txBody>
          <a:bodyPr vert="horz" wrap="square" lIns="0" tIns="0" rIns="0" bIns="0" rtlCol="0">
            <a:spAutoFit/>
          </a:bodyPr>
          <a:lstStyle/>
          <a:p>
            <a:pPr marL="38100">
              <a:lnSpc>
                <a:spcPts val="1240"/>
              </a:lnSpc>
            </a:pPr>
            <a:r>
              <a:rPr lang="en-US" spc="-50" dirty="0"/>
              <a:t>13</a:t>
            </a:r>
            <a:endParaRPr spc="-50" dirty="0"/>
          </a:p>
        </p:txBody>
      </p:sp>
      <p:sp>
        <p:nvSpPr>
          <p:cNvPr id="8" name="Rectangle 1">
            <a:extLst>
              <a:ext uri="{FF2B5EF4-FFF2-40B4-BE49-F238E27FC236}">
                <a16:creationId xmlns:a16="http://schemas.microsoft.com/office/drawing/2014/main" id="{B176D5C2-0920-24BD-B591-3AFE396A0D56}"/>
              </a:ext>
            </a:extLst>
          </p:cNvPr>
          <p:cNvSpPr>
            <a:spLocks noGrp="1" noChangeArrowheads="1"/>
          </p:cNvSpPr>
          <p:nvPr>
            <p:ph type="body" idx="1"/>
          </p:nvPr>
        </p:nvSpPr>
        <p:spPr bwMode="auto">
          <a:xfrm>
            <a:off x="0" y="1957208"/>
            <a:ext cx="91440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Abhay </a:t>
            </a:r>
            <a:r>
              <a:rPr kumimoji="0" lang="en-US" altLang="en-US" sz="1800" b="0" i="0" u="none" strike="noStrike" cap="none" normalizeH="0" baseline="0" dirty="0" err="1">
                <a:ln>
                  <a:noFill/>
                </a:ln>
                <a:solidFill>
                  <a:schemeClr val="tx1"/>
                </a:solidFill>
                <a:effectLst/>
                <a:latin typeface="Arial" panose="020B0604020202020204" pitchFamily="34" charset="0"/>
              </a:rPr>
              <a:t>Chopade</a:t>
            </a:r>
            <a:r>
              <a:rPr kumimoji="0" lang="en-US" altLang="en-US" sz="1800" b="0" i="0" u="none" strike="noStrike" cap="none" normalizeH="0" baseline="0" dirty="0">
                <a:ln>
                  <a:noFill/>
                </a:ln>
                <a:solidFill>
                  <a:schemeClr val="tx1"/>
                </a:solidFill>
                <a:effectLst/>
                <a:latin typeface="Arial" panose="020B0604020202020204" pitchFamily="34" charset="0"/>
              </a:rPr>
              <a:t>, Vaibhav </a:t>
            </a:r>
            <a:r>
              <a:rPr kumimoji="0" lang="en-US" altLang="en-US" sz="1800" b="0" i="0" u="none" strike="noStrike" cap="none" normalizeH="0" baseline="0" dirty="0" err="1">
                <a:ln>
                  <a:noFill/>
                </a:ln>
                <a:solidFill>
                  <a:schemeClr val="tx1"/>
                </a:solidFill>
                <a:effectLst/>
                <a:latin typeface="Arial" panose="020B0604020202020204" pitchFamily="34" charset="0"/>
              </a:rPr>
              <a:t>Shingade</a:t>
            </a:r>
            <a:r>
              <a:rPr kumimoji="0" lang="en-US" altLang="en-US" sz="1800" b="0" i="0" u="none" strike="noStrike" cap="none" normalizeH="0" baseline="0" dirty="0">
                <a:ln>
                  <a:noFill/>
                </a:ln>
                <a:solidFill>
                  <a:schemeClr val="tx1"/>
                </a:solidFill>
                <a:effectLst/>
                <a:latin typeface="Arial" panose="020B0604020202020204" pitchFamily="34" charset="0"/>
              </a:rPr>
              <a:t>, Aman </a:t>
            </a:r>
            <a:r>
              <a:rPr kumimoji="0" lang="en-US" altLang="en-US" sz="1800" b="0" i="0" u="none" strike="noStrike" cap="none" normalizeH="0" baseline="0" dirty="0" err="1">
                <a:ln>
                  <a:noFill/>
                </a:ln>
                <a:solidFill>
                  <a:schemeClr val="tx1"/>
                </a:solidFill>
                <a:effectLst/>
                <a:latin typeface="Arial" panose="020B0604020202020204" pitchFamily="34" charset="0"/>
              </a:rPr>
              <a:t>Chavare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Tejas</a:t>
            </a:r>
            <a:r>
              <a:rPr kumimoji="0" lang="en-US" altLang="en-US" sz="1800" b="0" i="0" u="none" strike="noStrike" cap="none" normalizeH="0" baseline="0" dirty="0">
                <a:ln>
                  <a:noFill/>
                </a:ln>
                <a:solidFill>
                  <a:schemeClr val="tx1"/>
                </a:solidFill>
                <a:effectLst/>
                <a:latin typeface="Arial" panose="020B0604020202020204" pitchFamily="34" charset="0"/>
              </a:rPr>
              <a:t> Bhagwat. "</a:t>
            </a:r>
            <a:r>
              <a:rPr kumimoji="0" lang="en-US" altLang="en-US" sz="1800" i="0" u="none" strike="noStrike" cap="none" normalizeH="0" baseline="0" dirty="0">
                <a:ln>
                  <a:noFill/>
                </a:ln>
                <a:solidFill>
                  <a:schemeClr val="tx1"/>
                </a:solidFill>
                <a:effectLst/>
                <a:latin typeface="Arial" panose="020B0604020202020204" pitchFamily="34" charset="0"/>
              </a:rPr>
              <a:t>Code Insight - Flowchart Generator</a:t>
            </a:r>
            <a:r>
              <a:rPr kumimoji="0" lang="en-US" altLang="en-US" sz="1800" b="0" i="0" u="none" strike="noStrike" cap="none" normalizeH="0" baseline="0" dirty="0">
                <a:ln>
                  <a:noFill/>
                </a:ln>
                <a:solidFill>
                  <a:schemeClr val="tx1"/>
                </a:solidFill>
                <a:effectLst/>
                <a:latin typeface="Arial" panose="020B0604020202020204" pitchFamily="34" charset="0"/>
              </a:rPr>
              <a:t>." 2024. The project automates pseudocode conversion into flowcharts using OpenAI GPT-3.5 Turbo. DOI: </a:t>
            </a:r>
            <a:r>
              <a:rPr kumimoji="0" lang="en-US" altLang="en-US" sz="1800" b="0" i="0" u="none" strike="noStrike" cap="none" normalizeH="0" baseline="0" dirty="0">
                <a:ln>
                  <a:noFill/>
                </a:ln>
                <a:solidFill>
                  <a:schemeClr val="tx1"/>
                </a:solidFill>
                <a:effectLst/>
                <a:latin typeface="Arial" panose="020B0604020202020204" pitchFamily="34" charset="0"/>
                <a:hlinkClick r:id="rId3" action="ppaction://hlinkpres?slideindex=1&amp;slidetitle="/>
              </a:rPr>
              <a:t>10.1109/XXXXXXX.</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Shreya Shukla, Prajwal </a:t>
            </a:r>
            <a:r>
              <a:rPr kumimoji="0" lang="en-US" altLang="en-US" sz="1800" b="0" i="0" u="none" strike="noStrike" cap="none" normalizeH="0" baseline="0" dirty="0" err="1">
                <a:ln>
                  <a:noFill/>
                </a:ln>
                <a:solidFill>
                  <a:schemeClr val="tx1"/>
                </a:solidFill>
                <a:effectLst/>
                <a:latin typeface="Arial" panose="020B0604020202020204" pitchFamily="34" charset="0"/>
              </a:rPr>
              <a:t>Gatti</a:t>
            </a:r>
            <a:r>
              <a:rPr kumimoji="0" lang="en-US" altLang="en-US" sz="1800" b="0" i="0" u="none" strike="noStrike" cap="none" normalizeH="0" baseline="0" dirty="0">
                <a:ln>
                  <a:noFill/>
                </a:ln>
                <a:solidFill>
                  <a:schemeClr val="tx1"/>
                </a:solidFill>
                <a:effectLst/>
                <a:latin typeface="Arial" panose="020B0604020202020204" pitchFamily="34" charset="0"/>
              </a:rPr>
              <a:t>, Yogesh Kumar, Vikash Yadav, Anand Mishra. "</a:t>
            </a:r>
            <a:r>
              <a:rPr kumimoji="0" lang="en-US" altLang="en-US" sz="1800" i="0" u="none" strike="noStrike" cap="none" normalizeH="0" baseline="0" dirty="0">
                <a:ln>
                  <a:noFill/>
                </a:ln>
                <a:solidFill>
                  <a:schemeClr val="tx1"/>
                </a:solidFill>
                <a:effectLst/>
                <a:latin typeface="Arial" panose="020B0604020202020204" pitchFamily="34" charset="0"/>
              </a:rPr>
              <a:t>Towards Making Flowchart Images Machine Interpretable</a:t>
            </a:r>
            <a:r>
              <a:rPr kumimoji="0" lang="en-US" altLang="en-US" sz="1800" b="0" i="0" u="none" strike="noStrike" cap="none" normalizeH="0" baseline="0" dirty="0">
                <a:ln>
                  <a:noFill/>
                </a:ln>
                <a:solidFill>
                  <a:schemeClr val="tx1"/>
                </a:solidFill>
                <a:effectLst/>
                <a:latin typeface="Arial" panose="020B0604020202020204" pitchFamily="34" charset="0"/>
              </a:rPr>
              <a:t>." 2023. Model: FloCo-T5, a transformer-based framework. DOI: </a:t>
            </a:r>
            <a:r>
              <a:rPr kumimoji="0" lang="en-US" altLang="en-US" sz="1800" b="0" i="0" u="none" strike="noStrike" cap="none" normalizeH="0" baseline="0" dirty="0">
                <a:ln>
                  <a:noFill/>
                </a:ln>
                <a:solidFill>
                  <a:schemeClr val="tx1"/>
                </a:solidFill>
                <a:effectLst/>
                <a:latin typeface="Arial" panose="020B0604020202020204" pitchFamily="34" charset="0"/>
                <a:hlinkClick r:id="rId3" action="ppaction://hlinkpres?slideindex=1&amp;slidetitle="/>
              </a:rPr>
              <a:t>10.1109/XXXXXXX</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l" defTabSz="914400" rtl="0" eaLnBrk="0" fontAlgn="base" latinLnBrk="0" hangingPunct="0">
              <a:lnSpc>
                <a:spcPct val="100000"/>
              </a:lnSpc>
              <a:spcBef>
                <a:spcPct val="0"/>
              </a:spcBef>
              <a:spcAft>
                <a:spcPct val="0"/>
              </a:spcAft>
              <a:buClrTx/>
              <a:buSzTx/>
              <a:buAutoNum type="arabicPeriod"/>
              <a:tabLst/>
            </a:pPr>
            <a:r>
              <a:rPr kumimoji="0" lang="en-US" altLang="en-US" sz="1800" b="0" i="0" u="none" strike="noStrike" cap="none" normalizeH="0" baseline="0" dirty="0" err="1">
                <a:ln>
                  <a:noFill/>
                </a:ln>
                <a:solidFill>
                  <a:schemeClr val="tx1"/>
                </a:solidFill>
                <a:effectLst/>
                <a:latin typeface="Arial" panose="020B0604020202020204" pitchFamily="34" charset="0"/>
              </a:rPr>
              <a:t>Damitha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Karunratna</a:t>
            </a:r>
            <a:r>
              <a:rPr kumimoji="0" lang="en-US" altLang="en-US" sz="1800" b="0" i="0" u="none" strike="noStrike" cap="none" normalizeH="0" baseline="0" dirty="0">
                <a:ln>
                  <a:noFill/>
                </a:ln>
                <a:solidFill>
                  <a:schemeClr val="tx1"/>
                </a:solidFill>
                <a:effectLst/>
                <a:latin typeface="Arial" panose="020B0604020202020204" pitchFamily="34" charset="0"/>
              </a:rPr>
              <a:t>, Nasik </a:t>
            </a:r>
            <a:r>
              <a:rPr kumimoji="0" lang="en-US" altLang="en-US" sz="1800" b="0" i="0" u="none" strike="noStrike" cap="none" normalizeH="0" baseline="0" dirty="0" err="1">
                <a:ln>
                  <a:noFill/>
                </a:ln>
                <a:solidFill>
                  <a:schemeClr val="tx1"/>
                </a:solidFill>
                <a:effectLst/>
                <a:latin typeface="Arial" panose="020B0604020202020204" pitchFamily="34" charset="0"/>
              </a:rPr>
              <a:t>Shafeek</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a:ln>
                  <a:noFill/>
                </a:ln>
                <a:solidFill>
                  <a:schemeClr val="tx1"/>
                </a:solidFill>
                <a:effectLst/>
                <a:latin typeface="Arial" panose="020B0604020202020204" pitchFamily="34" charset="0"/>
              </a:rPr>
              <a:t>An Extensible Approach to Generate Flowcharts from Source Code</a:t>
            </a:r>
            <a:r>
              <a:rPr kumimoji="0" lang="en-US" altLang="en-US" sz="1800" b="0" i="0" u="none" strike="noStrike" cap="none" normalizeH="0" baseline="0" dirty="0">
                <a:ln>
                  <a:noFill/>
                </a:ln>
                <a:solidFill>
                  <a:schemeClr val="tx1"/>
                </a:solidFill>
                <a:effectLst/>
                <a:latin typeface="Arial" panose="020B0604020202020204" pitchFamily="34" charset="0"/>
              </a:rPr>
              <a:t>." 2018. Language-independent abstract representation. DOI: </a:t>
            </a:r>
            <a:r>
              <a:rPr kumimoji="0" lang="en-US" altLang="en-US" sz="1800" b="0" i="0" u="none" strike="noStrike" cap="none" normalizeH="0" baseline="0" dirty="0">
                <a:ln>
                  <a:noFill/>
                </a:ln>
                <a:solidFill>
                  <a:schemeClr val="tx1"/>
                </a:solidFill>
                <a:effectLst/>
                <a:latin typeface="Arial" panose="020B0604020202020204" pitchFamily="34" charset="0"/>
                <a:hlinkClick r:id="rId3" action="ppaction://hlinkpres?slideindex=1&amp;slidetitle="/>
              </a:rPr>
              <a:t>10.1109/XXXXXXX.</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AutoNum type="arabicPeriod"/>
              <a:tabLst/>
            </a:pPr>
            <a:r>
              <a:rPr kumimoji="0" lang="en-US" altLang="en-US" sz="1800" b="0" i="0" u="none" strike="noStrike" cap="none" normalizeH="0" baseline="0" dirty="0" err="1">
                <a:ln>
                  <a:noFill/>
                </a:ln>
                <a:solidFill>
                  <a:schemeClr val="tx1"/>
                </a:solidFill>
                <a:effectLst/>
                <a:latin typeface="Arial" panose="020B0604020202020204" pitchFamily="34" charset="0"/>
              </a:rPr>
              <a:t>Xiangyu</a:t>
            </a:r>
            <a:r>
              <a:rPr kumimoji="0" lang="en-US" altLang="en-US" sz="1800" b="0" i="0" u="none" strike="noStrike" cap="none" normalizeH="0" baseline="0" dirty="0">
                <a:ln>
                  <a:noFill/>
                </a:ln>
                <a:solidFill>
                  <a:schemeClr val="tx1"/>
                </a:solidFill>
                <a:effectLst/>
                <a:latin typeface="Arial" panose="020B0604020202020204" pitchFamily="34" charset="0"/>
              </a:rPr>
              <a:t> Zhang, Jianjun Zhao, </a:t>
            </a:r>
            <a:r>
              <a:rPr kumimoji="0" lang="en-US" altLang="en-US" sz="1800" b="0" i="0" u="none" strike="noStrike" cap="none" normalizeH="0" baseline="0" dirty="0" err="1">
                <a:ln>
                  <a:noFill/>
                </a:ln>
                <a:solidFill>
                  <a:schemeClr val="tx1"/>
                </a:solidFill>
                <a:effectLst/>
                <a:latin typeface="Arial" panose="020B0604020202020204" pitchFamily="34" charset="0"/>
              </a:rPr>
              <a:t>Haipeng</a:t>
            </a:r>
            <a:r>
              <a:rPr kumimoji="0" lang="en-US" altLang="en-US" sz="1800" b="0" i="0" u="none" strike="noStrike" cap="none" normalizeH="0" baseline="0" dirty="0">
                <a:ln>
                  <a:noFill/>
                </a:ln>
                <a:solidFill>
                  <a:schemeClr val="tx1"/>
                </a:solidFill>
                <a:effectLst/>
                <a:latin typeface="Arial" panose="020B0604020202020204" pitchFamily="34" charset="0"/>
              </a:rPr>
              <a:t> Cai, and </a:t>
            </a:r>
            <a:r>
              <a:rPr kumimoji="0" lang="en-US" altLang="en-US" sz="1800" b="0" i="0" u="none" strike="noStrike" cap="none" normalizeH="0" baseline="0" dirty="0" err="1">
                <a:ln>
                  <a:noFill/>
                </a:ln>
                <a:solidFill>
                  <a:schemeClr val="tx1"/>
                </a:solidFill>
                <a:effectLst/>
                <a:latin typeface="Arial" panose="020B0604020202020204" pitchFamily="34" charset="0"/>
              </a:rPr>
              <a:t>Ruoyu</a:t>
            </a:r>
            <a:r>
              <a:rPr kumimoji="0" lang="en-US" altLang="en-US" sz="1800" b="0" i="0" u="none" strike="noStrike" cap="none" normalizeH="0" baseline="0" dirty="0">
                <a:ln>
                  <a:noFill/>
                </a:ln>
                <a:solidFill>
                  <a:schemeClr val="tx1"/>
                </a:solidFill>
                <a:effectLst/>
                <a:latin typeface="Arial" panose="020B0604020202020204" pitchFamily="34" charset="0"/>
              </a:rPr>
              <a:t> Xu. "</a:t>
            </a:r>
            <a:r>
              <a:rPr kumimoji="0" lang="en-US" altLang="en-US" sz="1800" i="0" u="none" strike="noStrike" cap="none" normalizeH="0" baseline="0" dirty="0">
                <a:ln>
                  <a:noFill/>
                </a:ln>
                <a:solidFill>
                  <a:schemeClr val="tx1"/>
                </a:solidFill>
                <a:effectLst/>
                <a:latin typeface="Arial" panose="020B0604020202020204" pitchFamily="34" charset="0"/>
              </a:rPr>
              <a:t>Automatic Translation from Pseudocode to Source Code: A Machine Learning Approach</a:t>
            </a:r>
            <a:r>
              <a:rPr kumimoji="0" lang="en-US" altLang="en-US" sz="1800" b="0" i="0" u="none" strike="noStrike" cap="none" normalizeH="0" baseline="0" dirty="0">
                <a:ln>
                  <a:noFill/>
                </a:ln>
                <a:solidFill>
                  <a:schemeClr val="tx1"/>
                </a:solidFill>
                <a:effectLst/>
                <a:latin typeface="Arial" panose="020B0604020202020204" pitchFamily="34" charset="0"/>
              </a:rPr>
              <a:t>." 2021. DOI: </a:t>
            </a:r>
            <a:r>
              <a:rPr kumimoji="0" lang="en-US" altLang="en-US" sz="1800" b="0" i="0" u="none" strike="noStrike" cap="none" normalizeH="0" baseline="0" dirty="0">
                <a:ln>
                  <a:noFill/>
                </a:ln>
                <a:solidFill>
                  <a:schemeClr val="tx1"/>
                </a:solidFill>
                <a:effectLst/>
                <a:latin typeface="Arial" panose="020B0604020202020204" pitchFamily="34" charset="0"/>
                <a:hlinkClick r:id="rId3" action="ppaction://hlinkpres?slideindex=1&amp;slidetitle="/>
              </a:rPr>
              <a:t>10.1109/ICSME52669.2021.9584823</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l" defTabSz="914400" rtl="0" eaLnBrk="0" fontAlgn="base" latinLnBrk="0" hangingPunct="0">
              <a:lnSpc>
                <a:spcPct val="100000"/>
              </a:lnSpc>
              <a:spcBef>
                <a:spcPct val="0"/>
              </a:spcBef>
              <a:spcAft>
                <a:spcPct val="0"/>
              </a:spcAft>
              <a:buClrTx/>
              <a:buSzTx/>
              <a:buAutoNum type="arabicPeriod"/>
              <a:tabLst/>
            </a:pPr>
            <a:r>
              <a:rPr kumimoji="0" lang="en-US" altLang="en-US" sz="1800" b="0" i="0" u="none" strike="noStrike" cap="none" normalizeH="0" baseline="0" dirty="0" err="1">
                <a:ln>
                  <a:noFill/>
                </a:ln>
                <a:solidFill>
                  <a:schemeClr val="tx1"/>
                </a:solidFill>
                <a:effectLst/>
                <a:latin typeface="Arial" panose="020B0604020202020204" pitchFamily="34" charset="0"/>
              </a:rPr>
              <a:t>ikhail</a:t>
            </a:r>
            <a:r>
              <a:rPr kumimoji="0" lang="en-US" altLang="en-US" sz="1800" b="0" i="0" u="none" strike="noStrike" cap="none" normalizeH="0" baseline="0" dirty="0">
                <a:ln>
                  <a:noFill/>
                </a:ln>
                <a:solidFill>
                  <a:schemeClr val="tx1"/>
                </a:solidFill>
                <a:effectLst/>
                <a:latin typeface="Arial" panose="020B0604020202020204" pitchFamily="34" charset="0"/>
              </a:rPr>
              <a:t> Denisov, Anton </a:t>
            </a:r>
            <a:r>
              <a:rPr kumimoji="0" lang="en-US" altLang="en-US" sz="1800" b="0" i="0" u="none" strike="noStrike" cap="none" normalizeH="0" baseline="0" dirty="0" err="1">
                <a:ln>
                  <a:noFill/>
                </a:ln>
                <a:solidFill>
                  <a:schemeClr val="tx1"/>
                </a:solidFill>
                <a:effectLst/>
                <a:latin typeface="Arial" panose="020B0604020202020204" pitchFamily="34" charset="0"/>
              </a:rPr>
              <a:t>Anikin</a:t>
            </a:r>
            <a:r>
              <a:rPr kumimoji="0" lang="en-US" altLang="en-US" sz="1800" b="0" i="0" u="none" strike="noStrike" cap="none" normalizeH="0" baseline="0" dirty="0">
                <a:ln>
                  <a:noFill/>
                </a:ln>
                <a:solidFill>
                  <a:schemeClr val="tx1"/>
                </a:solidFill>
                <a:effectLst/>
                <a:latin typeface="Arial" panose="020B0604020202020204" pitchFamily="34" charset="0"/>
              </a:rPr>
              <a:t>, Oleg </a:t>
            </a:r>
            <a:r>
              <a:rPr kumimoji="0" lang="en-US" altLang="en-US" sz="1800" b="0" i="0" u="none" strike="noStrike" cap="none" normalizeH="0" baseline="0" dirty="0" err="1">
                <a:ln>
                  <a:noFill/>
                </a:ln>
                <a:solidFill>
                  <a:schemeClr val="tx1"/>
                </a:solidFill>
                <a:effectLst/>
                <a:latin typeface="Arial" panose="020B0604020202020204" pitchFamily="34" charset="0"/>
              </a:rPr>
              <a:t>Sychev</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a:ln>
                  <a:noFill/>
                </a:ln>
                <a:solidFill>
                  <a:schemeClr val="tx1"/>
                </a:solidFill>
                <a:effectLst/>
                <a:latin typeface="Arial" panose="020B0604020202020204" pitchFamily="34" charset="0"/>
              </a:rPr>
              <a:t>Dynamic Flowcharts for Enhancing Learners’ Understanding of Control Flow During Programming Learning</a:t>
            </a:r>
            <a:r>
              <a:rPr kumimoji="0" lang="en-US" altLang="en-US" sz="1800" b="0" i="0" u="none" strike="noStrike" cap="none" normalizeH="0" baseline="0" dirty="0">
                <a:ln>
                  <a:noFill/>
                </a:ln>
                <a:solidFill>
                  <a:schemeClr val="tx1"/>
                </a:solidFill>
                <a:effectLst/>
                <a:latin typeface="Arial" panose="020B0604020202020204" pitchFamily="34" charset="0"/>
              </a:rPr>
              <a:t>." 2021. Implementation of a non-editable flowchart widget. DOI: </a:t>
            </a:r>
            <a:r>
              <a:rPr kumimoji="0" lang="en-US" altLang="en-US" sz="1800" b="0" i="0" u="none" strike="noStrike" cap="none" normalizeH="0" baseline="0" dirty="0">
                <a:ln>
                  <a:noFill/>
                </a:ln>
                <a:solidFill>
                  <a:schemeClr val="tx1"/>
                </a:solidFill>
                <a:effectLst/>
                <a:latin typeface="Arial" panose="020B0604020202020204" pitchFamily="34" charset="0"/>
                <a:hlinkClick r:id="rId4" action="ppaction://hlinkfile"/>
              </a:rPr>
              <a:t>10.1109/XXXXXXX</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316999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tabLst>
                <a:tab pos="2713990" algn="l"/>
              </a:tabLst>
            </a:pPr>
            <a:r>
              <a:rPr sz="6600" i="1" spc="-10" dirty="0">
                <a:latin typeface="Times New Roman"/>
                <a:cs typeface="Times New Roman"/>
              </a:rPr>
              <a:t>Thank</a:t>
            </a:r>
            <a:r>
              <a:rPr sz="6600" i="1" dirty="0">
                <a:latin typeface="Times New Roman"/>
                <a:cs typeface="Times New Roman"/>
              </a:rPr>
              <a:t>	</a:t>
            </a:r>
            <a:r>
              <a:rPr sz="6600" i="1" spc="-10" dirty="0">
                <a:latin typeface="Times New Roman"/>
                <a:cs typeface="Times New Roman"/>
              </a:rPr>
              <a:t>You!!</a:t>
            </a:r>
            <a:endParaRPr sz="6600">
              <a:latin typeface="Times New Roman"/>
              <a:cs typeface="Times New Roman"/>
            </a:endParaRPr>
          </a:p>
        </p:txBody>
      </p:sp>
      <p:sp>
        <p:nvSpPr>
          <p:cNvPr id="4" name="object 4"/>
          <p:cNvSpPr txBox="1"/>
          <p:nvPr/>
        </p:nvSpPr>
        <p:spPr>
          <a:xfrm>
            <a:off x="3373451" y="6371773"/>
            <a:ext cx="2473325" cy="205184"/>
          </a:xfrm>
          <a:prstGeom prst="rect">
            <a:avLst/>
          </a:prstGeom>
        </p:spPr>
        <p:txBody>
          <a:bodyPr vert="horz" wrap="square" lIns="0" tIns="0" rIns="0" bIns="0" rtlCol="0">
            <a:spAutoFit/>
          </a:bodyPr>
          <a:lstStyle/>
          <a:p>
            <a:pPr marL="12700" algn="ctr">
              <a:lnSpc>
                <a:spcPts val="1630"/>
              </a:lnSpc>
            </a:pPr>
            <a:r>
              <a:rPr lang="en-US" sz="1400" dirty="0" err="1">
                <a:latin typeface="Times New Roman"/>
                <a:cs typeface="Times New Roman"/>
              </a:rPr>
              <a:t>FlowFusion</a:t>
            </a:r>
            <a:endParaRPr sz="1200" dirty="0">
              <a:latin typeface="Times New Roman"/>
              <a:cs typeface="Times New Roman"/>
            </a:endParaRPr>
          </a:p>
        </p:txBody>
      </p:sp>
      <p:sp>
        <p:nvSpPr>
          <p:cNvPr id="5" name="object 5"/>
          <p:cNvSpPr txBox="1">
            <a:spLocks noGrp="1"/>
          </p:cNvSpPr>
          <p:nvPr>
            <p:ph type="dt" sz="half" idx="6"/>
          </p:nvPr>
        </p:nvSpPr>
        <p:spPr>
          <a:xfrm>
            <a:off x="526429" y="6388742"/>
            <a:ext cx="760094" cy="156068"/>
          </a:xfrm>
          <a:prstGeom prst="rect">
            <a:avLst/>
          </a:prstGeom>
        </p:spPr>
        <p:txBody>
          <a:bodyPr vert="horz" wrap="square" lIns="0" tIns="0" rIns="0" bIns="0" rtlCol="0">
            <a:spAutoFit/>
          </a:bodyPr>
          <a:lstStyle/>
          <a:p>
            <a:pPr marL="12700">
              <a:lnSpc>
                <a:spcPts val="1240"/>
              </a:lnSpc>
            </a:pPr>
            <a:r>
              <a:rPr spc="-10" dirty="0"/>
              <a:t>10/1</a:t>
            </a:r>
            <a:r>
              <a:rPr lang="en-US" spc="-10" dirty="0"/>
              <a:t>9</a:t>
            </a:r>
            <a:r>
              <a:rPr spc="-10" dirty="0"/>
              <a:t>/2024</a:t>
            </a:r>
          </a:p>
        </p:txBody>
      </p:sp>
      <p:sp>
        <p:nvSpPr>
          <p:cNvPr id="6" name="object 6"/>
          <p:cNvSpPr txBox="1">
            <a:spLocks noGrp="1"/>
          </p:cNvSpPr>
          <p:nvPr>
            <p:ph type="sldNum" sz="quarter" idx="7"/>
          </p:nvPr>
        </p:nvSpPr>
        <p:spPr>
          <a:xfrm>
            <a:off x="8467510" y="6418039"/>
            <a:ext cx="193903" cy="156068"/>
          </a:xfrm>
          <a:prstGeom prst="rect">
            <a:avLst/>
          </a:prstGeom>
        </p:spPr>
        <p:txBody>
          <a:bodyPr vert="horz" wrap="square" lIns="0" tIns="0" rIns="0" bIns="0" rtlCol="0">
            <a:spAutoFit/>
          </a:bodyPr>
          <a:lstStyle/>
          <a:p>
            <a:pPr marL="38100">
              <a:lnSpc>
                <a:spcPts val="1240"/>
              </a:lnSpc>
            </a:pPr>
            <a:r>
              <a:rPr lang="en-US" spc="-50" dirty="0"/>
              <a:t>13</a:t>
            </a:r>
            <a:endParaRPr spc="-50" dirty="0"/>
          </a:p>
        </p:txBody>
      </p:sp>
      <p:sp>
        <p:nvSpPr>
          <p:cNvPr id="3" name="object 3"/>
          <p:cNvSpPr txBox="1">
            <a:spLocks noGrp="1"/>
          </p:cNvSpPr>
          <p:nvPr>
            <p:ph type="subTitle" idx="4"/>
          </p:nvPr>
        </p:nvSpPr>
        <p:spPr>
          <a:prstGeom prst="rect">
            <a:avLst/>
          </a:prstGeom>
        </p:spPr>
        <p:txBody>
          <a:bodyPr vert="horz" wrap="square" lIns="0" tIns="12700" rIns="0" bIns="0" rtlCol="0">
            <a:spAutoFit/>
          </a:bodyPr>
          <a:lstStyle/>
          <a:p>
            <a:pPr marL="12700">
              <a:lnSpc>
                <a:spcPct val="100000"/>
              </a:lnSpc>
              <a:spcBef>
                <a:spcPts val="100"/>
              </a:spcBef>
              <a:tabLst>
                <a:tab pos="1496695" algn="l"/>
              </a:tabLst>
            </a:pPr>
            <a:r>
              <a:rPr sz="5400" i="1" spc="-25" dirty="0">
                <a:solidFill>
                  <a:srgbClr val="C00000"/>
                </a:solidFill>
                <a:latin typeface="Times New Roman"/>
                <a:cs typeface="Times New Roman"/>
              </a:rPr>
              <a:t>Any</a:t>
            </a:r>
            <a:r>
              <a:rPr sz="5400" i="1" dirty="0">
                <a:solidFill>
                  <a:srgbClr val="C00000"/>
                </a:solidFill>
                <a:latin typeface="Times New Roman"/>
                <a:cs typeface="Times New Roman"/>
              </a:rPr>
              <a:t>	</a:t>
            </a:r>
            <a:r>
              <a:rPr sz="5400" i="1" spc="-10" dirty="0">
                <a:solidFill>
                  <a:srgbClr val="C00000"/>
                </a:solidFill>
                <a:latin typeface="Times New Roman"/>
                <a:cs typeface="Times New Roman"/>
              </a:rPr>
              <a:t>Questions??</a:t>
            </a:r>
            <a:endParaRPr sz="54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185</TotalTime>
  <Words>898</Words>
  <Application>Microsoft Office PowerPoint</Application>
  <PresentationFormat>On-screen Show (4:3)</PresentationFormat>
  <Paragraphs>139</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Arial MT</vt:lpstr>
      <vt:lpstr>Calibri</vt:lpstr>
      <vt:lpstr>Palatino Linotype</vt:lpstr>
      <vt:lpstr>Times New Roman</vt:lpstr>
      <vt:lpstr>Office Theme</vt:lpstr>
      <vt:lpstr>PowerPoint Presentation</vt:lpstr>
      <vt:lpstr>OUTLINE OF PRESENTATION</vt:lpstr>
      <vt:lpstr>INTRODUCTION</vt:lpstr>
      <vt:lpstr>PROBLEM STATEMENT</vt:lpstr>
      <vt:lpstr>  AIM &amp; OBJECTIVES</vt:lpstr>
      <vt:lpstr>LITERATURE SURVEY</vt:lpstr>
      <vt:lpstr>      METHODOLOGY</vt:lpstr>
      <vt:lpstr>      METHODOLOGY</vt:lpstr>
      <vt:lpstr>      METHODOLOGY</vt:lpstr>
      <vt:lpstr>    SOFTWARE &amp; HARDWARE REQUIREMENTS</vt:lpstr>
      <vt:lpstr>    RESULT &amp; ANALYSIS</vt:lpstr>
      <vt:lpstr>    RESULT &amp; ANALYSIS</vt:lpstr>
      <vt:lpstr>   CONCLUSION</vt:lpstr>
      <vt:lpstr>   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sanket parulekar</dc:creator>
  <cp:lastModifiedBy>sanket parulekar</cp:lastModifiedBy>
  <cp:revision>7</cp:revision>
  <dcterms:created xsi:type="dcterms:W3CDTF">2024-10-15T11:52:08Z</dcterms:created>
  <dcterms:modified xsi:type="dcterms:W3CDTF">2024-10-17T06:49:26Z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